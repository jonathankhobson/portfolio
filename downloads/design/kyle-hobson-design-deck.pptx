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f91081a24de486b" /><Relationship Type="http://schemas.openxmlformats.org/officeDocument/2006/relationships/extended-properties" Target="/docProps/app.xml" Id="R17a23db7cbef484f" /><Relationship Type="http://schemas.openxmlformats.org/officeDocument/2006/relationships/officeDocument" Target="/ppt/presentation.xml" Id="Rd108e9a2115848f8" /></Relationships>
</file>

<file path=ppt/presentation.xml><?xml version="1.0" encoding="utf-8"?>
<p:presentation xmlns:p="http://schemas.openxmlformats.org/presentationml/2006/main">
  <p:sldMasterIdLst>
    <p:sldMasterId xmlns:r="http://schemas.openxmlformats.org/officeDocument/2006/relationships" id="2147483648" r:id="Rd4a4a6cdc4434ee0"/>
  </p:sldMasterIdLst>
  <p:notesMasterIdLst>
    <p:notesMasterId xmlns:r="http://schemas.openxmlformats.org/officeDocument/2006/relationships" r:id="R54e49a45bd1b4d88"/>
  </p:notesMasterIdLst>
  <p:sldIdLst>
    <p:sldId xmlns:r="http://schemas.openxmlformats.org/officeDocument/2006/relationships" id="256" r:id="Rc55d2dae5da346f9"/>
    <p:sldId xmlns:r="http://schemas.openxmlformats.org/officeDocument/2006/relationships" id="257" r:id="Rd0161f1a86324e7c"/>
    <p:sldId xmlns:r="http://schemas.openxmlformats.org/officeDocument/2006/relationships" id="258" r:id="R2aa54f7e85b34425"/>
    <p:sldId xmlns:r="http://schemas.openxmlformats.org/officeDocument/2006/relationships" id="259" r:id="Rf2d4a4384a434a77"/>
    <p:sldId xmlns:r="http://schemas.openxmlformats.org/officeDocument/2006/relationships" id="260" r:id="Re0c53f9a07634495"/>
    <p:sldId xmlns:r="http://schemas.openxmlformats.org/officeDocument/2006/relationships" id="261" r:id="R55fb3cac46794274"/>
    <p:sldId xmlns:r="http://schemas.openxmlformats.org/officeDocument/2006/relationships" id="262" r:id="Rd98fe14cea53497c"/>
    <p:sldId xmlns:r="http://schemas.openxmlformats.org/officeDocument/2006/relationships" id="263" r:id="R74a50880471b4848"/>
    <p:sldId xmlns:r="http://schemas.openxmlformats.org/officeDocument/2006/relationships" id="264" r:id="R8d4fe22f85d24523"/>
    <p:sldId xmlns:r="http://schemas.openxmlformats.org/officeDocument/2006/relationships" id="265" r:id="R9b70fcae2197455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a3e5fa06f454391" /><Relationship Type="http://schemas.openxmlformats.org/officeDocument/2006/relationships/slideMaster" Target="/ppt/slideMasters/slideMaster1.xml" Id="Rd4a4a6cdc4434ee0" /><Relationship Type="http://schemas.openxmlformats.org/officeDocument/2006/relationships/notesMaster" Target="/ppt/notesMasters/notesMaster1.xml" Id="R54e49a45bd1b4d88" /><Relationship Type="http://schemas.openxmlformats.org/officeDocument/2006/relationships/presProps" Target="/ppt/presProps.xml" Id="R490616fea6c2484a" /><Relationship Type="http://schemas.openxmlformats.org/officeDocument/2006/relationships/tableStyles" Target="/ppt/tableStyles.xml" Id="R69b3aa6f39994127" /><Relationship Type="http://schemas.openxmlformats.org/officeDocument/2006/relationships/slide" Target="/ppt/slides/slide1.xml" Id="Rc55d2dae5da346f9" /><Relationship Type="http://schemas.openxmlformats.org/officeDocument/2006/relationships/slide" Target="/ppt/slides/slide2.xml" Id="Rd0161f1a86324e7c" /><Relationship Type="http://schemas.openxmlformats.org/officeDocument/2006/relationships/slide" Target="/ppt/slides/slide3.xml" Id="R2aa54f7e85b34425" /><Relationship Type="http://schemas.openxmlformats.org/officeDocument/2006/relationships/slide" Target="/ppt/slides/slide4.xml" Id="Rf2d4a4384a434a77" /><Relationship Type="http://schemas.openxmlformats.org/officeDocument/2006/relationships/slide" Target="/ppt/slides/slide5.xml" Id="Re0c53f9a07634495" /><Relationship Type="http://schemas.openxmlformats.org/officeDocument/2006/relationships/slide" Target="/ppt/slides/slide6.xml" Id="R55fb3cac46794274" /><Relationship Type="http://schemas.openxmlformats.org/officeDocument/2006/relationships/slide" Target="/ppt/slides/slide7.xml" Id="Rd98fe14cea53497c" /><Relationship Type="http://schemas.openxmlformats.org/officeDocument/2006/relationships/slide" Target="/ppt/slides/slide8.xml" Id="R74a50880471b4848" /><Relationship Type="http://schemas.openxmlformats.org/officeDocument/2006/relationships/slide" Target="/ppt/slides/slide9.xml" Id="R8d4fe22f85d24523" /><Relationship Type="http://schemas.openxmlformats.org/officeDocument/2006/relationships/slide" Target="/ppt/slides/slide10.xml" Id="R9b70fcae2197455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d9216a607da4cb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Kyle Portfolio">
      <a:dk1>
        <a:srgbClr val="192B25"/>
      </a:dk1>
      <a:lt1>
        <a:srgbClr val="FFFFFF"/>
      </a:lt1>
      <a:dk2>
        <a:srgbClr val="244D3C"/>
      </a:dk2>
      <a:lt2>
        <a:srgbClr val="F4F2E9"/>
      </a:lt2>
      <a:accent1>
        <a:srgbClr val="244D3C"/>
      </a:accent1>
      <a:accent2>
        <a:srgbClr val="DBEB89"/>
      </a:accent2>
      <a:accent3>
        <a:srgbClr val="E1E8DB"/>
      </a:accent3>
      <a:accent4>
        <a:srgbClr val="58645D"/>
      </a:accent4>
      <a:accent5>
        <a:srgbClr val="192B25"/>
      </a:accent5>
      <a:accent6>
        <a:srgbClr val="F4F2E9"/>
      </a:accent6>
      <a:hlink>
        <a:srgbClr val="DBEB89"/>
      </a:hlink>
      <a:folHlink>
        <a:srgbClr val="DBEB89"/>
      </a:folHlink>
    </a:clrScheme>
    <a:fontScheme name="Office">
      <a:majorFont>
        <a:latin typeface="Calibri Light"/>
        <a:ea typeface="Calibri Light"/>
        <a:cs typeface="Calibri Light"/>
      </a:majorFont>
      <a:minorFont>
        <a:latin typeface="Calibri"/>
        <a:ea typeface="Calibri"/>
        <a:cs typeface="Calibri"/>
      </a:minorFont>
    </a:fontScheme>
    <a:fmtScheme name="Kyle Portfolio">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f724887ff604222" /><Relationship Type="http://schemas.openxmlformats.org/officeDocument/2006/relationships/notesMaster" Target="/ppt/notesMasters/notesMaster1.xml" Id="R3f327cb54dbd4bae" /></Relationships>
</file>

<file path=ppt/notesSlides/_rels/notesSlide2.xml.rels>&#65279;<?xml version="1.0" encoding="utf-8"?><Relationships xmlns="http://schemas.openxmlformats.org/package/2006/relationships"><Relationship Type="http://schemas.openxmlformats.org/officeDocument/2006/relationships/slide" Target="/ppt/slides/slide2.xml" Id="Ra4a32494723a4250" /><Relationship Type="http://schemas.openxmlformats.org/officeDocument/2006/relationships/notesMaster" Target="/ppt/notesMasters/notesMaster1.xml" Id="R62b300ae5cab438f" /></Relationships>
</file>

<file path=ppt/notesSlides/_rels/notesSlide3.xml.rels>&#65279;<?xml version="1.0" encoding="utf-8"?><Relationships xmlns="http://schemas.openxmlformats.org/package/2006/relationships"><Relationship Type="http://schemas.openxmlformats.org/officeDocument/2006/relationships/slide" Target="/ppt/slides/slide3.xml" Id="Rdac95b7a0905467c" /><Relationship Type="http://schemas.openxmlformats.org/officeDocument/2006/relationships/notesMaster" Target="/ppt/notesMasters/notesMaster1.xml" Id="R810e4ab527f04ef0" /></Relationships>
</file>

<file path=ppt/notesSlides/_rels/notesSlide4.xml.rels>&#65279;<?xml version="1.0" encoding="utf-8"?><Relationships xmlns="http://schemas.openxmlformats.org/package/2006/relationships"><Relationship Type="http://schemas.openxmlformats.org/officeDocument/2006/relationships/slide" Target="/ppt/slides/slide4.xml" Id="Rb52c5dc6a90e400a" /><Relationship Type="http://schemas.openxmlformats.org/officeDocument/2006/relationships/notesMaster" Target="/ppt/notesMasters/notesMaster1.xml" Id="R724e53df50aa46f6" /></Relationships>
</file>

<file path=ppt/notesSlides/_rels/notesSlide5.xml.rels>&#65279;<?xml version="1.0" encoding="utf-8"?><Relationships xmlns="http://schemas.openxmlformats.org/package/2006/relationships"><Relationship Type="http://schemas.openxmlformats.org/officeDocument/2006/relationships/slide" Target="/ppt/slides/slide5.xml" Id="R398b73e3c9074684" /><Relationship Type="http://schemas.openxmlformats.org/officeDocument/2006/relationships/notesMaster" Target="/ppt/notesMasters/notesMaster1.xml" Id="R7d5b7d8f6bf244ab" /></Relationships>
</file>

<file path=ppt/notesSlides/_rels/notesSlide6.xml.rels>&#65279;<?xml version="1.0" encoding="utf-8"?><Relationships xmlns="http://schemas.openxmlformats.org/package/2006/relationships"><Relationship Type="http://schemas.openxmlformats.org/officeDocument/2006/relationships/slide" Target="/ppt/slides/slide6.xml" Id="Rcb308be4543b4d4f" /><Relationship Type="http://schemas.openxmlformats.org/officeDocument/2006/relationships/notesMaster" Target="/ppt/notesMasters/notesMaster1.xml" Id="R059fa0f7aa0345c2" /></Relationships>
</file>

<file path=ppt/notesSlides/_rels/notesSlide7.xml.rels>&#65279;<?xml version="1.0" encoding="utf-8"?><Relationships xmlns="http://schemas.openxmlformats.org/package/2006/relationships"><Relationship Type="http://schemas.openxmlformats.org/officeDocument/2006/relationships/slide" Target="/ppt/slides/slide7.xml" Id="Ra997b43fbba44ffa" /><Relationship Type="http://schemas.openxmlformats.org/officeDocument/2006/relationships/notesMaster" Target="/ppt/notesMasters/notesMaster1.xml" Id="Ree1fcc49cd7a4933" /></Relationships>
</file>

<file path=ppt/notesSlides/_rels/notesSlide8.xml.rels>&#65279;<?xml version="1.0" encoding="utf-8"?><Relationships xmlns="http://schemas.openxmlformats.org/package/2006/relationships"><Relationship Type="http://schemas.openxmlformats.org/officeDocument/2006/relationships/slide" Target="/ppt/slides/slide8.xml" Id="R9a087fb1962b4c59" /><Relationship Type="http://schemas.openxmlformats.org/officeDocument/2006/relationships/notesMaster" Target="/ppt/notesMasters/notesMaster1.xml" Id="Rcd004474dd924d1b" /></Relationships>
</file>

<file path=ppt/notesSlides/_rels/notesSlide9.xml.rels>&#65279;<?xml version="1.0" encoding="utf-8"?><Relationships xmlns="http://schemas.openxmlformats.org/package/2006/relationships"><Relationship Type="http://schemas.openxmlformats.org/officeDocument/2006/relationships/slide" Target="/ppt/slides/slide9.xml" Id="Rd1bdfc8f88e54627" /><Relationship Type="http://schemas.openxmlformats.org/officeDocument/2006/relationships/notesMaster" Target="/ppt/notesMasters/notesMaster1.xml" Id="R72dd751dc2ef468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5ad0ae061e34c32" /><Relationship Type="http://schemas.openxmlformats.org/officeDocument/2006/relationships/notesMaster" Target="/ppt/notesMasters/notesMaster1.xml" Id="R6dfa98d728cb42c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Kyle Hobson, UX Designer. Source: selected original SmartTagIt Flint design export. Interface content and values are illustrative design content. The deck discusses design deliverables, handoff and proposed iterations, with work stage stated at each case opening.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Case: Flint, SmartTagIt at FactorLab. Kyle: UX Designer &amp; Researcher (Contract), 2025–2026. Source: original mobile design export, question suggestions and project walkthroughs. Work stage: design deliverables and engineering handoff. These examples document designed states, not a claim that every variant shipped.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original Flint response-in-progress mobile export and design walkthrough. The inset enlarges an unchanged region of the same source image. Kyle explored the waiting treatment alongside the conversation and discussed animation constraints with engineering.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selected original Flint interrupted-response and offline design variants, including the March 27, 2026 error-state handoff. Distinct recovery actions follow the state: Ask again or Continue for a partial response, and retry after connection loss with the question preserved. Deliverable: connected flows, interaction states and engineering annotations.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Case: About Me, SmartTagIt at FactorLab. Kyle: UX Designer &amp; Researcher (Contract), 2026. Source: original About Me Figma direction and April–May 2026 walkthroughs. The displayed crop retains original sample content. A September 2, 2026 engineering update confirms the About Me web/server release. These images document design iterations rather than the exact released layout.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original About Me Topic Comparison widget and stakeholder design discussions. Values are illustrative design content, not research outcomes. Kyle advocated neutral feedback and made cohort definition and interpretation questions explicit. The case output was a family of insight layouts and concrete product questions for alignment.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Case: Oak AI. Kyle: Lead UX Researcher, 2023–2025. Source: original Oak navigation evaluation screenshot, with the identity area omitted. Training the assistant, starting Vibecheck and requesting support appear as competing entry points. Kyle documented the labels and visual treatments and used the audit to make these choices explicit for review. Work stage: usability evaluation and design recommendations. This slide does not present a finished navigation redesign or a user-study finding.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original Oak error-message recommendation artifact containing Before and After panels. Displayed interface panels retain source pixels and are labeled Original and Proposed to clarify the work state. Kyle connected an evaluation finding to visual alternatives and implementation recommendations. No conversion or task-success percentage is asserted.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Personal story is based on Kyle’s self-described documentary filmmaking, digital storytelling and game facilitation background. It is an editorial connection, not a measured business-outcome claim. The portrait is a user-supplied personal image, used for identity rather than as project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product and UX design roles, contract projects and professional collaborations. The displayed contact links are clickable.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ba7436891d2455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e1ea38a0c3a4b0a" /><Relationship Type="http://schemas.openxmlformats.org/officeDocument/2006/relationships/slideLayout" Target="/ppt/slideLayouts/slideLayout1.xml" Id="R8a3a50e2e54143e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a3a50e2e54143e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Kyle Portfolio">
      <a:dk1>
        <a:srgbClr val="192B25"/>
      </a:dk1>
      <a:lt1>
        <a:srgbClr val="FFFFFF"/>
      </a:lt1>
      <a:dk2>
        <a:srgbClr val="244D3C"/>
      </a:dk2>
      <a:lt2>
        <a:srgbClr val="F4F2E9"/>
      </a:lt2>
      <a:accent1>
        <a:srgbClr val="244D3C"/>
      </a:accent1>
      <a:accent2>
        <a:srgbClr val="DBEB89"/>
      </a:accent2>
      <a:accent3>
        <a:srgbClr val="E1E8DB"/>
      </a:accent3>
      <a:accent4>
        <a:srgbClr val="58645D"/>
      </a:accent4>
      <a:accent5>
        <a:srgbClr val="192B25"/>
      </a:accent5>
      <a:accent6>
        <a:srgbClr val="F4F2E9"/>
      </a:accent6>
      <a:hlink>
        <a:srgbClr val="DBEB89"/>
      </a:hlink>
      <a:folHlink>
        <a:srgbClr val="DBEB89"/>
      </a:folHlink>
    </a:clrScheme>
    <a:fontScheme name="Office">
      <a:majorFont>
        <a:latin typeface="Calibri Light"/>
        <a:ea typeface="Calibri Light"/>
        <a:cs typeface="Calibri Light"/>
      </a:majorFont>
      <a:minorFont>
        <a:latin typeface="Calibri"/>
        <a:ea typeface="Calibri"/>
        <a:cs typeface="Calibri"/>
      </a:minorFont>
    </a:fontScheme>
    <a:fmtScheme name="Kyle Portfolio">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f9d9747833549e7" /><Relationship Type="http://schemas.openxmlformats.org/officeDocument/2006/relationships/image" Target="/ppt/media/image.png" Id="R46d41c84d1d64525" /><Relationship Type="http://schemas.openxmlformats.org/officeDocument/2006/relationships/notesSlide" Target="/ppt/notesSlides/notesSlide1.xml" Id="R9c383c5ef992415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8970947dc6c4b7d" /><Relationship Type="http://schemas.openxmlformats.org/officeDocument/2006/relationships/image" Target="/ppt/media/image2.png" Id="R08722bb7f8ed4c41" /><Relationship Type="http://schemas.openxmlformats.org/officeDocument/2006/relationships/notesSlide" Target="/ppt/notesSlides/notesSlide2.xml" Id="Rfaa36afbb78544b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1b64cd3e06f4894" /><Relationship Type="http://schemas.openxmlformats.org/officeDocument/2006/relationships/image" Target="/ppt/media/image3.png" Id="Rfefdc1112d4e4521" /><Relationship Type="http://schemas.openxmlformats.org/officeDocument/2006/relationships/image" Target="/ppt/media/image4.png" Id="R018ac03db71e42fb" /><Relationship Type="http://schemas.openxmlformats.org/officeDocument/2006/relationships/notesSlide" Target="/ppt/notesSlides/notesSlide3.xml" Id="R419a5c6c214f4cb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05a0b3458014078" /><Relationship Type="http://schemas.openxmlformats.org/officeDocument/2006/relationships/image" Target="/ppt/media/image5.png" Id="R495b209980f54a99" /><Relationship Type="http://schemas.openxmlformats.org/officeDocument/2006/relationships/image" Target="/ppt/media/image6.png" Id="R552dfe2e8cc64c0a" /><Relationship Type="http://schemas.openxmlformats.org/officeDocument/2006/relationships/notesSlide" Target="/ppt/notesSlides/notesSlide4.xml" Id="R4bba6d483edc4a3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c23741165cb4647" /><Relationship Type="http://schemas.openxmlformats.org/officeDocument/2006/relationships/image" Target="/ppt/media/image7.png" Id="Rf395df382a34441f" /><Relationship Type="http://schemas.openxmlformats.org/officeDocument/2006/relationships/notesSlide" Target="/ppt/notesSlides/notesSlide5.xml" Id="Rbf7f6e0b1deb414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a09563a9e62492f" /><Relationship Type="http://schemas.openxmlformats.org/officeDocument/2006/relationships/image" Target="/ppt/media/image8.png" Id="R8400a9e5803f44a8" /><Relationship Type="http://schemas.openxmlformats.org/officeDocument/2006/relationships/notesSlide" Target="/ppt/notesSlides/notesSlide6.xml" Id="Ra4b832e22ae143e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3422c0aea964f02" /><Relationship Type="http://schemas.openxmlformats.org/officeDocument/2006/relationships/image" Target="/ppt/media/image9.png" Id="R3f427a66e89b46c8" /><Relationship Type="http://schemas.openxmlformats.org/officeDocument/2006/relationships/notesSlide" Target="/ppt/notesSlides/notesSlide7.xml" Id="R80108f8eec634bc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e33911ee79a4819" /><Relationship Type="http://schemas.openxmlformats.org/officeDocument/2006/relationships/image" Target="/ppt/media/image10.png" Id="R502d920dc6614ce7" /><Relationship Type="http://schemas.openxmlformats.org/officeDocument/2006/relationships/image" Target="/ppt/media/image11.png" Id="R287fed1b19724a69" /><Relationship Type="http://schemas.openxmlformats.org/officeDocument/2006/relationships/image" Target="/ppt/media/image12.png" Id="Raca85ab144f24be4" /><Relationship Type="http://schemas.openxmlformats.org/officeDocument/2006/relationships/notesSlide" Target="/ppt/notesSlides/notesSlide8.xml" Id="Rd0c3f6777ab44d8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242249a99474ca4" /><Relationship Type="http://schemas.openxmlformats.org/officeDocument/2006/relationships/image" Target="/ppt/media/image.jpeg" Id="R6cdbc1db358d44d8" /><Relationship Type="http://schemas.openxmlformats.org/officeDocument/2006/relationships/notesSlide" Target="/ppt/notesSlides/notesSlide9.xml" Id="R380d6a72cd9f48c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52a7139785143ce" /><Relationship Type="http://schemas.openxmlformats.org/officeDocument/2006/relationships/hyperlink" Target="mailto:JonathanKyleHobson@gmail.com" TargetMode="External" Id="Rbec667ab4ce3484e" /><Relationship Type="http://schemas.openxmlformats.org/officeDocument/2006/relationships/hyperlink" Target="https://jonathankhobson.github.io/portfolio/design/" TargetMode="External" Id="Rc99a5a53ca064438" /><Relationship Type="http://schemas.openxmlformats.org/officeDocument/2006/relationships/notesSlide" Target="/ppt/notesSlides/notesSlide10.xml" Id="R76e1ca5616e84c6a" /></Relationships>
</file>

<file path=ppt/slides/slide1.xml><?xml version="1.0" encoding="utf-8"?>
<p:sld xmlns:p="http://schemas.openxmlformats.org/presentationml/2006/main">
  <p:cSld>
    <p:bg>
      <p:bgPr>
        <a:solidFill xmlns:a="http://schemas.openxmlformats.org/drawingml/2006/main">
          <a:srgbClr val="244D3C"/>
        </a:solidFill>
      </p:bgPr>
    </p:bg>
    <p:spTree>
      <p:nvGrpSpPr>
        <p:cNvPr id="1" name=""/>
        <p:cNvGrpSpPr/>
        <p:nvPr/>
      </p:nvGrpSpPr>
      <p:grpSpPr>
        <a:xfrm xmlns:a="http://schemas.openxmlformats.org/drawingml/2006/main"/>
      </p:grpSpPr>
      <p:sp>
        <p:nvSpPr>
          <p:cNvPr id="8" name="slide-number">
            <a:extLst xmlns:a="http://schemas.openxmlformats.org/drawingml/2006/main">
              <a:ext uri="{FF2B5EF4-FFF2-40B4-BE49-F238E27FC236}">
                <a16:creationId xmlns:a16="http://schemas.microsoft.com/office/drawing/2014/main" id="{492DE73A-0931-4DF0-B638-E78D03857ABB}"/>
              </a:ext>
            </a:extLst>
          </p:cNvPr>
          <p:cNvSpPr>
            <a:spLocks xmlns:a="http://schemas.openxmlformats.org/drawingml/2006/main" noGrp="1"/>
          </p:cNvSpPr>
          <p:nvPr/>
        </p:nvSpPr>
        <p:spPr>
          <a:xfrm xmlns:a="http://schemas.openxmlformats.org/drawingml/2006/main">
            <a:off x="11353800" y="651510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DBEB89"/>
                </a:solidFill>
                <a:latin typeface="Helvetica Neue"/>
                <a:ea typeface="Helvetica Neue"/>
                <a:cs typeface="Helvetica Neue"/>
              </a:defRPr>
            </a:pPr>
            <a:r>
              <a:rPr sz="1050" b="0">
                <a:solidFill>
                  <a:srgbClr val="DBEB89"/>
                </a:solidFill>
                <a:latin typeface="Helvetica Neue"/>
                <a:ea typeface="Helvetica Neue"/>
                <a:cs typeface="Helvetica Neue"/>
              </a:rPr>
              <a:t>01</a:t>
            </a:r>
          </a:p>
        </p:txBody>
      </p:sp>
      <p:sp>
        <p:nvSpPr>
          <p:cNvPr id="2" name="section-label">
            <a:extLst xmlns:a="http://schemas.openxmlformats.org/drawingml/2006/main">
              <a:ext uri="{FF2B5EF4-FFF2-40B4-BE49-F238E27FC236}">
                <a16:creationId xmlns:a16="http://schemas.microsoft.com/office/drawing/2014/main" id="{3C89E49E-2098-454A-9B0C-5DDBBD3A514A}"/>
              </a:ext>
            </a:extLst>
          </p:cNvPr>
          <p:cNvSpPr>
            <a:spLocks xmlns:a="http://schemas.openxmlformats.org/drawingml/2006/main" noGrp="1"/>
          </p:cNvSpPr>
          <p:nvPr/>
        </p:nvSpPr>
        <p:spPr>
          <a:xfrm xmlns:a="http://schemas.openxmlformats.org/drawingml/2006/main">
            <a:off x="609600" y="514350"/>
            <a:ext cx="685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DBEB89"/>
                </a:solidFill>
                <a:latin typeface="Helvetica Neue"/>
                <a:ea typeface="Helvetica Neue"/>
                <a:cs typeface="Helvetica Neue"/>
              </a:defRPr>
            </a:pPr>
            <a:r>
              <a:rPr sz="1200" b="1">
                <a:solidFill>
                  <a:srgbClr val="DBEB89"/>
                </a:solidFill>
                <a:latin typeface="Helvetica Neue"/>
                <a:ea typeface="Helvetica Neue"/>
                <a:cs typeface="Helvetica Neue"/>
              </a:rPr>
              <a:t>KYLE HOBSON   /   UX DESIGN</a:t>
            </a:r>
          </a:p>
        </p:txBody>
      </p:sp>
      <p:sp>
        <p:nvSpPr>
          <p:cNvPr id="3" name="headline">
            <a:extLst xmlns:a="http://schemas.openxmlformats.org/drawingml/2006/main">
              <a:ext uri="{FF2B5EF4-FFF2-40B4-BE49-F238E27FC236}">
                <a16:creationId xmlns:a16="http://schemas.microsoft.com/office/drawing/2014/main" id="{A1051729-87CD-4B5D-915A-189732A894EA}"/>
              </a:ext>
            </a:extLst>
          </p:cNvPr>
          <p:cNvSpPr>
            <a:spLocks xmlns:a="http://schemas.openxmlformats.org/drawingml/2006/main" noGrp="1"/>
          </p:cNvSpPr>
          <p:nvPr/>
        </p:nvSpPr>
        <p:spPr>
          <a:xfrm xmlns:a="http://schemas.openxmlformats.org/drawingml/2006/main">
            <a:off x="609600" y="1924050"/>
            <a:ext cx="73342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5100" b="1">
                <a:solidFill>
                  <a:srgbClr val="F4F2E9"/>
                </a:solidFill>
                <a:latin typeface="Helvetica Neue"/>
                <a:ea typeface="Helvetica Neue"/>
                <a:cs typeface="Helvetica Neue"/>
              </a:defRPr>
            </a:pPr>
            <a:r>
              <a:rPr sz="5100" b="1">
                <a:solidFill>
                  <a:srgbClr val="F4F2E9"/>
                </a:solidFill>
                <a:latin typeface="Helvetica Neue"/>
                <a:ea typeface="Helvetica Neue"/>
                <a:cs typeface="Helvetica Neue"/>
              </a:rPr>
              <a:t>Complex products.</a:t>
            </a:r>
          </a:p>
          <a:p xmlns:a="http://schemas.openxmlformats.org/drawingml/2006/main">
            <a:pPr>
              <a:lnSpc>
                <a:spcPct val="110000"/>
              </a:lnSpc>
              <a:buNone/>
              <a:defRPr sz="5100" b="1">
                <a:solidFill>
                  <a:srgbClr val="F4F2E9"/>
                </a:solidFill>
                <a:latin typeface="Helvetica Neue"/>
                <a:ea typeface="Helvetica Neue"/>
                <a:cs typeface="Helvetica Neue"/>
              </a:defRPr>
            </a:pPr>
            <a:r>
              <a:rPr sz="5100" b="1">
                <a:solidFill>
                  <a:srgbClr val="F4F2E9"/>
                </a:solidFill>
                <a:latin typeface="Helvetica Neue"/>
                <a:ea typeface="Helvetica Neue"/>
                <a:cs typeface="Helvetica Neue"/>
              </a:rPr>
              <a:t>Clear next steps.</a:t>
            </a:r>
          </a:p>
        </p:txBody>
      </p:sp>
      <p:sp>
        <p:nvSpPr>
          <p:cNvPr id="4" name="cover-intro">
            <a:extLst xmlns:a="http://schemas.openxmlformats.org/drawingml/2006/main">
              <a:ext uri="{FF2B5EF4-FFF2-40B4-BE49-F238E27FC236}">
                <a16:creationId xmlns:a16="http://schemas.microsoft.com/office/drawing/2014/main" id="{C38A2793-DDE7-40B3-8B7D-8DA4C98027C0}"/>
              </a:ext>
            </a:extLst>
          </p:cNvPr>
          <p:cNvSpPr>
            <a:spLocks xmlns:a="http://schemas.openxmlformats.org/drawingml/2006/main" noGrp="1"/>
          </p:cNvSpPr>
          <p:nvPr/>
        </p:nvSpPr>
        <p:spPr>
          <a:xfrm xmlns:a="http://schemas.openxmlformats.org/drawingml/2006/main">
            <a:off x="647700" y="4324350"/>
            <a:ext cx="6762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100" b="0">
                <a:solidFill>
                  <a:srgbClr val="F4F2E9"/>
                </a:solidFill>
                <a:latin typeface="Helvetica Neue"/>
                <a:ea typeface="Helvetica Neue"/>
                <a:cs typeface="Helvetica Neue"/>
              </a:defRPr>
            </a:pPr>
            <a:r>
              <a:rPr sz="2100" b="0">
                <a:solidFill>
                  <a:srgbClr val="F4F2E9"/>
                </a:solidFill>
                <a:latin typeface="Helvetica Neue"/>
                <a:ea typeface="Helvetica Neue"/>
                <a:cs typeface="Helvetica Neue"/>
              </a:rPr>
              <a:t>I make AI and information-rich products</a:t>
            </a:r>
          </a:p>
          <a:p xmlns:a="http://schemas.openxmlformats.org/drawingml/2006/main">
            <a:pPr>
              <a:lnSpc>
                <a:spcPct val="110000"/>
              </a:lnSpc>
              <a:buNone/>
              <a:defRPr sz="2100" b="0">
                <a:solidFill>
                  <a:srgbClr val="F4F2E9"/>
                </a:solidFill>
                <a:latin typeface="Helvetica Neue"/>
                <a:ea typeface="Helvetica Neue"/>
                <a:cs typeface="Helvetica Neue"/>
              </a:defRPr>
            </a:pPr>
            <a:r>
              <a:rPr sz="2100" b="0">
                <a:solidFill>
                  <a:srgbClr val="F4F2E9"/>
                </a:solidFill>
                <a:latin typeface="Helvetica Neue"/>
                <a:ea typeface="Helvetica Neue"/>
                <a:cs typeface="Helvetica Neue"/>
              </a:rPr>
              <a:t>easier to understand.</a:t>
            </a:r>
          </a:p>
        </p:txBody>
      </p:sp>
      <p:sp>
        <p:nvSpPr>
          <p:cNvPr id="5" name="cover-accent">
            <a:extLst xmlns:a="http://schemas.openxmlformats.org/drawingml/2006/main">
              <a:ext uri="{FF2B5EF4-FFF2-40B4-BE49-F238E27FC236}">
                <a16:creationId xmlns:a16="http://schemas.microsoft.com/office/drawing/2014/main" id="{38682704-A57D-4AF6-BF13-D9031F1ACD20}"/>
              </a:ext>
            </a:extLst>
          </p:cNvPr>
          <p:cNvSpPr>
            <a:spLocks xmlns:a="http://schemas.openxmlformats.org/drawingml/2006/main" noGrp="1"/>
          </p:cNvSpPr>
          <p:nvPr/>
        </p:nvSpPr>
        <p:spPr>
          <a:xfrm xmlns:a="http://schemas.openxmlformats.org/drawingml/2006/main">
            <a:off x="647700" y="5838825"/>
            <a:ext cx="647700" cy="47625"/>
          </a:xfrm>
          <a:prstGeom xmlns:a="http://schemas.openxmlformats.org/drawingml/2006/main" prst="rect">
            <a:avLst/>
          </a:prstGeom>
          <a:solidFill xmlns:a="http://schemas.openxmlformats.org/drawingml/2006/main">
            <a:srgbClr val="DBEB89"/>
          </a:solidFill>
          <a:ln xmlns:a="http://schemas.openxmlformats.org/drawingml/2006/main" w="0">
            <a:noFill/>
          </a:ln>
        </p:spPr>
      </p:sp>
      <p:sp>
        <p:nvSpPr>
          <p:cNvPr id="6" name="cover-type">
            <a:extLst xmlns:a="http://schemas.openxmlformats.org/drawingml/2006/main">
              <a:ext uri="{FF2B5EF4-FFF2-40B4-BE49-F238E27FC236}">
                <a16:creationId xmlns:a16="http://schemas.microsoft.com/office/drawing/2014/main" id="{B7C11EB2-DFE4-4C9E-8DB5-EA1671C71F91}"/>
              </a:ext>
            </a:extLst>
          </p:cNvPr>
          <p:cNvSpPr>
            <a:spLocks xmlns:a="http://schemas.openxmlformats.org/drawingml/2006/main" noGrp="1"/>
          </p:cNvSpPr>
          <p:nvPr/>
        </p:nvSpPr>
        <p:spPr>
          <a:xfrm xmlns:a="http://schemas.openxmlformats.org/drawingml/2006/main">
            <a:off x="647700" y="6134100"/>
            <a:ext cx="6572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0">
                <a:solidFill>
                  <a:srgbClr val="F4F2E9"/>
                </a:solidFill>
                <a:latin typeface="Helvetica Neue"/>
                <a:ea typeface="Helvetica Neue"/>
                <a:cs typeface="Helvetica Neue"/>
              </a:defRPr>
            </a:pPr>
            <a:r>
              <a:rPr sz="1350" b="0">
                <a:solidFill>
                  <a:srgbClr val="F4F2E9"/>
                </a:solidFill>
                <a:latin typeface="Helvetica Neue"/>
                <a:ea typeface="Helvetica Neue"/>
                <a:cs typeface="Helvetica Neue"/>
              </a:rPr>
              <a:t>Selected design work, 2023–2026</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46d41c84d1d64525"/>
          <a:stretch xmlns:a="http://schemas.openxmlformats.org/drawingml/2006/main"/>
        </p:blipFill>
        <p:spPr>
          <a:xfrm xmlns:a="http://schemas.openxmlformats.org/drawingml/2006/main">
            <a:off x="8859637" y="533400"/>
            <a:ext cx="2578502" cy="5524500"/>
          </a:xfrm>
          <a:prstGeom xmlns:a="http://schemas.openxmlformats.org/drawingml/2006/main" prst="rect">
            <a:avLst/>
          </a:prstGeom>
        </p:spPr>
      </p:pic>
    </p:spTree>
    <p:extLst>
      <p:ext uri="{BB962C8B-B14F-4D97-AF65-F5344CB8AC3E}">
        <p14:creationId xmlns:p14="http://schemas.microsoft.com/office/powerpoint/2010/main" val="127214222"/>
      </p:ext>
    </p:extLst>
  </p:cSld>
</p:sld>
</file>

<file path=ppt/slides/slide2.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10" name="slide-number">
            <a:extLst xmlns:a="http://schemas.openxmlformats.org/drawingml/2006/main">
              <a:ext uri="{FF2B5EF4-FFF2-40B4-BE49-F238E27FC236}">
                <a16:creationId xmlns:a16="http://schemas.microsoft.com/office/drawing/2014/main" id="{745AA609-2CA9-4007-9B7A-CBFC4D69F578}"/>
              </a:ext>
            </a:extLst>
          </p:cNvPr>
          <p:cNvSpPr>
            <a:spLocks xmlns:a="http://schemas.openxmlformats.org/drawingml/2006/main" noGrp="1"/>
          </p:cNvSpPr>
          <p:nvPr/>
        </p:nvSpPr>
        <p:spPr>
          <a:xfrm xmlns:a="http://schemas.openxmlformats.org/drawingml/2006/main">
            <a:off x="11353800" y="651510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02</a:t>
            </a:r>
          </a:p>
        </p:txBody>
      </p:sp>
      <p:sp>
        <p:nvSpPr>
          <p:cNvPr id="2" name="section-label">
            <a:extLst xmlns:a="http://schemas.openxmlformats.org/drawingml/2006/main">
              <a:ext uri="{FF2B5EF4-FFF2-40B4-BE49-F238E27FC236}">
                <a16:creationId xmlns:a16="http://schemas.microsoft.com/office/drawing/2014/main" id="{700C287C-5FFC-40C5-ABDE-101BBF3FD22E}"/>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FLINT   /   SMARTTAGIT, FACTORLAB</a:t>
            </a:r>
          </a:p>
        </p:txBody>
      </p:sp>
      <p:sp>
        <p:nvSpPr>
          <p:cNvPr id="3" name="headline">
            <a:extLst xmlns:a="http://schemas.openxmlformats.org/drawingml/2006/main">
              <a:ext uri="{FF2B5EF4-FFF2-40B4-BE49-F238E27FC236}">
                <a16:creationId xmlns:a16="http://schemas.microsoft.com/office/drawing/2014/main" id="{2E02C282-88BE-4257-BD76-875E363D018A}"/>
              </a:ext>
            </a:extLst>
          </p:cNvPr>
          <p:cNvSpPr>
            <a:spLocks xmlns:a="http://schemas.openxmlformats.org/drawingml/2006/main" noGrp="1"/>
          </p:cNvSpPr>
          <p:nvPr/>
        </p:nvSpPr>
        <p:spPr>
          <a:xfrm xmlns:a="http://schemas.openxmlformats.org/drawingml/2006/main">
            <a:off x="609600" y="110490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900" b="1">
                <a:solidFill>
                  <a:srgbClr val="192B25"/>
                </a:solidFill>
                <a:latin typeface="Helvetica Neue"/>
                <a:ea typeface="Helvetica Neue"/>
                <a:cs typeface="Helvetica Neue"/>
              </a:defRPr>
            </a:pPr>
            <a:r>
              <a:rPr sz="3900" b="1">
                <a:solidFill>
                  <a:srgbClr val="192B25"/>
                </a:solidFill>
                <a:latin typeface="Helvetica Neue"/>
                <a:ea typeface="Helvetica Neue"/>
                <a:cs typeface="Helvetica Neue"/>
              </a:rPr>
              <a:t>A useful</a:t>
            </a:r>
          </a:p>
          <a:p xmlns:a="http://schemas.openxmlformats.org/drawingml/2006/main">
            <a:pPr>
              <a:lnSpc>
                <a:spcPct val="110000"/>
              </a:lnSpc>
              <a:buNone/>
              <a:defRPr sz="3900" b="1">
                <a:solidFill>
                  <a:srgbClr val="192B25"/>
                </a:solidFill>
                <a:latin typeface="Helvetica Neue"/>
                <a:ea typeface="Helvetica Neue"/>
                <a:cs typeface="Helvetica Neue"/>
              </a:defRPr>
            </a:pPr>
            <a:r>
              <a:rPr sz="3900" b="1">
                <a:solidFill>
                  <a:srgbClr val="192B25"/>
                </a:solidFill>
                <a:latin typeface="Helvetica Neue"/>
                <a:ea typeface="Helvetica Neue"/>
                <a:cs typeface="Helvetica Neue"/>
              </a:rPr>
              <a:t>first question</a:t>
            </a:r>
          </a:p>
        </p:txBody>
      </p:sp>
      <p:sp>
        <p:nvSpPr>
          <p:cNvPr id="4" name="role">
            <a:extLst xmlns:a="http://schemas.openxmlformats.org/drawingml/2006/main">
              <a:ext uri="{FF2B5EF4-FFF2-40B4-BE49-F238E27FC236}">
                <a16:creationId xmlns:a16="http://schemas.microsoft.com/office/drawing/2014/main" id="{D2476ED9-8D8D-45EA-98A0-C4CCE6EF4CD0}"/>
              </a:ext>
            </a:extLst>
          </p:cNvPr>
          <p:cNvSpPr>
            <a:spLocks xmlns:a="http://schemas.openxmlformats.org/drawingml/2006/main" noGrp="1"/>
          </p:cNvSpPr>
          <p:nvPr/>
        </p:nvSpPr>
        <p:spPr>
          <a:xfrm xmlns:a="http://schemas.openxmlformats.org/drawingml/2006/main">
            <a:off x="609600" y="2705100"/>
            <a:ext cx="5334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500" b="1">
                <a:solidFill>
                  <a:srgbClr val="244D3C"/>
                </a:solidFill>
                <a:latin typeface="Helvetica Neue"/>
                <a:ea typeface="Helvetica Neue"/>
                <a:cs typeface="Helvetica Neue"/>
              </a:defRPr>
            </a:pPr>
            <a:r>
              <a:rPr sz="1500" b="1">
                <a:solidFill>
                  <a:srgbClr val="244D3C"/>
                </a:solidFill>
                <a:latin typeface="Helvetica Neue"/>
                <a:ea typeface="Helvetica Neue"/>
                <a:cs typeface="Helvetica Neue"/>
              </a:rPr>
              <a:t>UX Designer &amp; Researcher (Contract)</a:t>
            </a:r>
          </a:p>
          <a:p xmlns:a="http://schemas.openxmlformats.org/drawingml/2006/main">
            <a:pPr>
              <a:lnSpc>
                <a:spcPct val="110000"/>
              </a:lnSpc>
              <a:buNone/>
              <a:defRPr sz="1500" b="1">
                <a:solidFill>
                  <a:srgbClr val="244D3C"/>
                </a:solidFill>
                <a:latin typeface="Helvetica Neue"/>
                <a:ea typeface="Helvetica Neue"/>
                <a:cs typeface="Helvetica Neue"/>
              </a:defRPr>
            </a:pPr>
            <a:r>
              <a:rPr sz="1500" b="1">
                <a:solidFill>
                  <a:srgbClr val="244D3C"/>
                </a:solidFill>
                <a:latin typeface="Helvetica Neue"/>
                <a:ea typeface="Helvetica Neue"/>
                <a:cs typeface="Helvetica Neue"/>
              </a:rPr>
              <a:t>2025–2026</a:t>
            </a:r>
          </a:p>
        </p:txBody>
      </p:sp>
      <p:sp>
        <p:nvSpPr>
          <p:cNvPr id="5" name="entry-decision">
            <a:extLst xmlns:a="http://schemas.openxmlformats.org/drawingml/2006/main">
              <a:ext uri="{FF2B5EF4-FFF2-40B4-BE49-F238E27FC236}">
                <a16:creationId xmlns:a16="http://schemas.microsoft.com/office/drawing/2014/main" id="{964767E5-4B96-412C-9AAE-3835443136A6}"/>
              </a:ext>
            </a:extLst>
          </p:cNvPr>
          <p:cNvSpPr>
            <a:spLocks xmlns:a="http://schemas.openxmlformats.org/drawingml/2006/main" noGrp="1"/>
          </p:cNvSpPr>
          <p:nvPr/>
        </p:nvSpPr>
        <p:spPr>
          <a:xfrm xmlns:a="http://schemas.openxmlformats.org/drawingml/2006/main">
            <a:off x="609600" y="3676650"/>
            <a:ext cx="466725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025" b="0">
                <a:solidFill>
                  <a:srgbClr val="192B25"/>
                </a:solidFill>
                <a:latin typeface="Helvetica Neue"/>
                <a:ea typeface="Helvetica Neue"/>
                <a:cs typeface="Helvetica Neue"/>
              </a:defRPr>
            </a:pPr>
            <a:r>
              <a:rPr sz="2025" b="0">
                <a:solidFill>
                  <a:srgbClr val="192B25"/>
                </a:solidFill>
                <a:latin typeface="Helvetica Neue"/>
                <a:ea typeface="Helvetica Neue"/>
                <a:cs typeface="Helvetica Neue"/>
              </a:rPr>
              <a:t>I explored suggested questions and a question library while keeping a person’s own question close at hand.</a:t>
            </a:r>
          </a:p>
        </p:txBody>
      </p:sp>
      <p:sp>
        <p:nvSpPr>
          <p:cNvPr id="6" name="stage">
            <a:extLst xmlns:a="http://schemas.openxmlformats.org/drawingml/2006/main">
              <a:ext uri="{FF2B5EF4-FFF2-40B4-BE49-F238E27FC236}">
                <a16:creationId xmlns:a16="http://schemas.microsoft.com/office/drawing/2014/main" id="{CD598423-7149-4D3C-A1F2-F34ED4680DD9}"/>
              </a:ext>
            </a:extLst>
          </p:cNvPr>
          <p:cNvSpPr>
            <a:spLocks xmlns:a="http://schemas.openxmlformats.org/drawingml/2006/main" noGrp="1"/>
          </p:cNvSpPr>
          <p:nvPr/>
        </p:nvSpPr>
        <p:spPr>
          <a:xfrm xmlns:a="http://schemas.openxmlformats.org/drawingml/2006/main">
            <a:off x="609600" y="5486400"/>
            <a:ext cx="52197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0">
                <a:solidFill>
                  <a:srgbClr val="58645D"/>
                </a:solidFill>
                <a:latin typeface="Helvetica Neue"/>
                <a:ea typeface="Helvetica Neue"/>
                <a:cs typeface="Helvetica Neue"/>
              </a:defRPr>
            </a:pPr>
            <a:r>
              <a:rPr sz="1350" b="0">
                <a:solidFill>
                  <a:srgbClr val="58645D"/>
                </a:solidFill>
                <a:latin typeface="Helvetica Neue"/>
                <a:ea typeface="Helvetica Neue"/>
                <a:cs typeface="Helvetica Neue"/>
              </a:rPr>
              <a:t>Design deliverables and engineering handoff</a:t>
            </a:r>
          </a:p>
        </p:txBody>
      </p:sp>
      <p:sp>
        <p:nvSpPr>
          <p:cNvPr id="7" name="entry-scope">
            <a:extLst xmlns:a="http://schemas.openxmlformats.org/drawingml/2006/main">
              <a:ext uri="{FF2B5EF4-FFF2-40B4-BE49-F238E27FC236}">
                <a16:creationId xmlns:a16="http://schemas.microsoft.com/office/drawing/2014/main" id="{FFBD44B0-BA71-490E-90E1-D6C939D37258}"/>
              </a:ext>
            </a:extLst>
          </p:cNvPr>
          <p:cNvSpPr>
            <a:spLocks xmlns:a="http://schemas.openxmlformats.org/drawingml/2006/main" noGrp="1"/>
          </p:cNvSpPr>
          <p:nvPr/>
        </p:nvSpPr>
        <p:spPr>
          <a:xfrm xmlns:a="http://schemas.openxmlformats.org/drawingml/2006/main">
            <a:off x="609600" y="5943600"/>
            <a:ext cx="504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0">
                <a:solidFill>
                  <a:srgbClr val="58645D"/>
                </a:solidFill>
                <a:latin typeface="Helvetica Neue"/>
                <a:ea typeface="Helvetica Neue"/>
                <a:cs typeface="Helvetica Neue"/>
              </a:defRPr>
            </a:pPr>
            <a:r>
              <a:rPr sz="1350" b="0">
                <a:solidFill>
                  <a:srgbClr val="58645D"/>
                </a:solidFill>
                <a:latin typeface="Helvetica Neue"/>
                <a:ea typeface="Helvetica Neue"/>
                <a:cs typeface="Helvetica Neue"/>
              </a:rPr>
              <a:t>Mobile and desktop conversation flows</a:t>
            </a:r>
          </a:p>
        </p:txBody>
      </p:sp>
      <p:sp>
        <p:nvSpPr>
          <p:cNvPr id="8" name="phone-surface">
            <a:extLst xmlns:a="http://schemas.openxmlformats.org/drawingml/2006/main">
              <a:ext uri="{FF2B5EF4-FFF2-40B4-BE49-F238E27FC236}">
                <a16:creationId xmlns:a16="http://schemas.microsoft.com/office/drawing/2014/main" id="{89C8B721-FE91-49CF-BC3D-D3E65F0897F9}"/>
              </a:ext>
            </a:extLst>
          </p:cNvPr>
          <p:cNvSpPr>
            <a:spLocks xmlns:a="http://schemas.openxmlformats.org/drawingml/2006/main" noGrp="1"/>
          </p:cNvSpPr>
          <p:nvPr/>
        </p:nvSpPr>
        <p:spPr>
          <a:xfrm xmlns:a="http://schemas.openxmlformats.org/drawingml/2006/main">
            <a:off x="7372350" y="847725"/>
            <a:ext cx="3657600" cy="5514975"/>
          </a:xfrm>
          <a:prstGeom xmlns:a="http://schemas.openxmlformats.org/drawingml/2006/main" prst="rect">
            <a:avLst/>
          </a:prstGeom>
          <a:solidFill xmlns:a="http://schemas.openxmlformats.org/drawingml/2006/main">
            <a:srgbClr val="E1E8DB"/>
          </a:solidFill>
          <a:ln xmlns:a="http://schemas.openxmlformats.org/drawingml/2006/main" w="0">
            <a:noFill/>
          </a:ln>
        </p:spPr>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08722bb7f8ed4c41"/>
          <a:stretch xmlns:a="http://schemas.openxmlformats.org/drawingml/2006/main"/>
        </p:blipFill>
        <p:spPr>
          <a:xfrm xmlns:a="http://schemas.openxmlformats.org/drawingml/2006/main">
            <a:off x="7982069" y="895350"/>
            <a:ext cx="2542936" cy="5448300"/>
          </a:xfrm>
          <a:prstGeom xmlns:a="http://schemas.openxmlformats.org/drawingml/2006/main" prst="rect">
            <a:avLst/>
          </a:prstGeom>
        </p:spPr>
      </p:pic>
    </p:spTree>
    <p:extLst>
      <p:ext uri="{BB962C8B-B14F-4D97-AF65-F5344CB8AC3E}">
        <p14:creationId xmlns:p14="http://schemas.microsoft.com/office/powerpoint/2010/main" val="122957110"/>
      </p:ext>
    </p:extLst>
  </p:cSld>
</p:sld>
</file>

<file path=ppt/slides/slide3.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9" name="slide-number">
            <a:extLst xmlns:a="http://schemas.openxmlformats.org/drawingml/2006/main">
              <a:ext uri="{FF2B5EF4-FFF2-40B4-BE49-F238E27FC236}">
                <a16:creationId xmlns:a16="http://schemas.microsoft.com/office/drawing/2014/main" id="{1236A8A2-5FD9-47BC-9E19-3905AE09D3A3}"/>
              </a:ext>
            </a:extLst>
          </p:cNvPr>
          <p:cNvSpPr>
            <a:spLocks xmlns:a="http://schemas.openxmlformats.org/drawingml/2006/main" noGrp="1"/>
          </p:cNvSpPr>
          <p:nvPr/>
        </p:nvSpPr>
        <p:spPr>
          <a:xfrm xmlns:a="http://schemas.openxmlformats.org/drawingml/2006/main">
            <a:off x="11353800" y="651510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03</a:t>
            </a:r>
          </a:p>
        </p:txBody>
      </p:sp>
      <p:sp>
        <p:nvSpPr>
          <p:cNvPr id="2" name="section-label">
            <a:extLst xmlns:a="http://schemas.openxmlformats.org/drawingml/2006/main">
              <a:ext uri="{FF2B5EF4-FFF2-40B4-BE49-F238E27FC236}">
                <a16:creationId xmlns:a16="http://schemas.microsoft.com/office/drawing/2014/main" id="{08D28B54-86F1-4FDD-9684-DCA0024BCAB1}"/>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FLINT   /   RESPONSE IN PROGRESS</a:t>
            </a:r>
          </a:p>
        </p:txBody>
      </p:sp>
      <p:sp>
        <p:nvSpPr>
          <p:cNvPr id="3" name="headline">
            <a:extLst xmlns:a="http://schemas.openxmlformats.org/drawingml/2006/main">
              <a:ext uri="{FF2B5EF4-FFF2-40B4-BE49-F238E27FC236}">
                <a16:creationId xmlns:a16="http://schemas.microsoft.com/office/drawing/2014/main" id="{7CF3A88A-C1A7-4AA4-AB38-E6DCA3AE351D}"/>
              </a:ext>
            </a:extLst>
          </p:cNvPr>
          <p:cNvSpPr>
            <a:spLocks xmlns:a="http://schemas.openxmlformats.org/drawingml/2006/main" noGrp="1"/>
          </p:cNvSpPr>
          <p:nvPr/>
        </p:nvSpPr>
        <p:spPr>
          <a:xfrm xmlns:a="http://schemas.openxmlformats.org/drawingml/2006/main">
            <a:off x="609600" y="1123950"/>
            <a:ext cx="56769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675" b="1">
                <a:solidFill>
                  <a:srgbClr val="192B25"/>
                </a:solidFill>
                <a:latin typeface="Helvetica Neue"/>
                <a:ea typeface="Helvetica Neue"/>
                <a:cs typeface="Helvetica Neue"/>
              </a:defRPr>
            </a:pPr>
            <a:r>
              <a:rPr sz="3675" b="1">
                <a:solidFill>
                  <a:srgbClr val="192B25"/>
                </a:solidFill>
                <a:latin typeface="Helvetica Neue"/>
                <a:ea typeface="Helvetica Neue"/>
                <a:cs typeface="Helvetica Neue"/>
              </a:rPr>
              <a:t>Waiting is part of</a:t>
            </a:r>
          </a:p>
          <a:p xmlns:a="http://schemas.openxmlformats.org/drawingml/2006/main">
            <a:pPr>
              <a:lnSpc>
                <a:spcPct val="110000"/>
              </a:lnSpc>
              <a:buNone/>
              <a:defRPr sz="3675" b="1">
                <a:solidFill>
                  <a:srgbClr val="192B25"/>
                </a:solidFill>
                <a:latin typeface="Helvetica Neue"/>
                <a:ea typeface="Helvetica Neue"/>
                <a:cs typeface="Helvetica Neue"/>
              </a:defRPr>
            </a:pPr>
            <a:r>
              <a:rPr sz="3675" b="1">
                <a:solidFill>
                  <a:srgbClr val="192B25"/>
                </a:solidFill>
                <a:latin typeface="Helvetica Neue"/>
                <a:ea typeface="Helvetica Neue"/>
                <a:cs typeface="Helvetica Neue"/>
              </a:rPr>
              <a:t>the conversation</a:t>
            </a:r>
          </a:p>
        </p:txBody>
      </p:sp>
      <p:sp>
        <p:nvSpPr>
          <p:cNvPr id="4" name="waiting-decision">
            <a:extLst xmlns:a="http://schemas.openxmlformats.org/drawingml/2006/main">
              <a:ext uri="{FF2B5EF4-FFF2-40B4-BE49-F238E27FC236}">
                <a16:creationId xmlns:a16="http://schemas.microsoft.com/office/drawing/2014/main" id="{5C8DF091-82B2-41F3-8BDD-337715CA66BD}"/>
              </a:ext>
            </a:extLst>
          </p:cNvPr>
          <p:cNvSpPr>
            <a:spLocks xmlns:a="http://schemas.openxmlformats.org/drawingml/2006/main" noGrp="1"/>
          </p:cNvSpPr>
          <p:nvPr/>
        </p:nvSpPr>
        <p:spPr>
          <a:xfrm xmlns:a="http://schemas.openxmlformats.org/drawingml/2006/main">
            <a:off x="609600" y="3124200"/>
            <a:ext cx="46196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025" b="0">
                <a:solidFill>
                  <a:srgbClr val="192B25"/>
                </a:solidFill>
                <a:latin typeface="Helvetica Neue"/>
                <a:ea typeface="Helvetica Neue"/>
                <a:cs typeface="Helvetica Neue"/>
              </a:defRPr>
            </a:pPr>
            <a:r>
              <a:rPr sz="2025" b="0">
                <a:solidFill>
                  <a:srgbClr val="192B25"/>
                </a:solidFill>
                <a:latin typeface="Helvetica Neue"/>
                <a:ea typeface="Helvetica Neue"/>
                <a:cs typeface="Helvetica Neue"/>
              </a:rPr>
              <a:t>I kept the question visible and gave the response a distinct waiting state.</a:t>
            </a:r>
          </a:p>
        </p:txBody>
      </p:sp>
      <p:sp>
        <p:nvSpPr>
          <p:cNvPr id="5" name="waiting-constraint">
            <a:extLst xmlns:a="http://schemas.openxmlformats.org/drawingml/2006/main">
              <a:ext uri="{FF2B5EF4-FFF2-40B4-BE49-F238E27FC236}">
                <a16:creationId xmlns:a16="http://schemas.microsoft.com/office/drawing/2014/main" id="{2726AC3B-9CCE-471F-B524-7EFCE813ED15}"/>
              </a:ext>
            </a:extLst>
          </p:cNvPr>
          <p:cNvSpPr>
            <a:spLocks xmlns:a="http://schemas.openxmlformats.org/drawingml/2006/main" noGrp="1"/>
          </p:cNvSpPr>
          <p:nvPr/>
        </p:nvSpPr>
        <p:spPr>
          <a:xfrm xmlns:a="http://schemas.openxmlformats.org/drawingml/2006/main">
            <a:off x="609600" y="4543425"/>
            <a:ext cx="46196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00" b="0">
                <a:solidFill>
                  <a:srgbClr val="58645D"/>
                </a:solidFill>
                <a:latin typeface="Helvetica Neue"/>
                <a:ea typeface="Helvetica Neue"/>
                <a:cs typeface="Helvetica Neue"/>
              </a:defRPr>
            </a:pPr>
            <a:r>
              <a:rPr sz="1800" b="0">
                <a:solidFill>
                  <a:srgbClr val="58645D"/>
                </a:solidFill>
                <a:latin typeface="Helvetica Neue"/>
                <a:ea typeface="Helvetica Neue"/>
                <a:cs typeface="Helvetica Neue"/>
              </a:rPr>
              <a:t>Animation was an implementation question to resolve with engineering.</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fefdc1112d4e4521"/>
          <a:stretch xmlns:a="http://schemas.openxmlformats.org/drawingml/2006/main"/>
        </p:blipFill>
        <p:spPr>
          <a:xfrm xmlns:a="http://schemas.openxmlformats.org/drawingml/2006/main">
            <a:off x="5850211" y="2362200"/>
            <a:ext cx="2872828" cy="1219200"/>
          </a:xfrm>
          <a:prstGeom xmlns:a="http://schemas.openxmlformats.org/drawingml/2006/main" prst="rect">
            <a:avLst/>
          </a:prstGeom>
        </p:spPr>
      </p:pic>
      <p:sp>
        <p:nvSpPr>
          <p:cNvPr id="7" name="detail-caption">
            <a:extLst xmlns:a="http://schemas.openxmlformats.org/drawingml/2006/main">
              <a:ext uri="{FF2B5EF4-FFF2-40B4-BE49-F238E27FC236}">
                <a16:creationId xmlns:a16="http://schemas.microsoft.com/office/drawing/2014/main" id="{1453D508-F74E-4661-9647-0043F53EE4E5}"/>
              </a:ext>
            </a:extLst>
          </p:cNvPr>
          <p:cNvSpPr>
            <a:spLocks xmlns:a="http://schemas.openxmlformats.org/drawingml/2006/main" noGrp="1"/>
          </p:cNvSpPr>
          <p:nvPr/>
        </p:nvSpPr>
        <p:spPr>
          <a:xfrm xmlns:a="http://schemas.openxmlformats.org/drawingml/2006/main">
            <a:off x="5905500" y="3810000"/>
            <a:ext cx="2686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a:solidFill>
                  <a:srgbClr val="58645D"/>
                </a:solidFill>
                <a:latin typeface="Helvetica Neue"/>
                <a:ea typeface="Helvetica Neue"/>
                <a:cs typeface="Helvetica Neue"/>
              </a:defRPr>
            </a:pPr>
            <a:r>
              <a:rPr sz="1200" b="0">
                <a:solidFill>
                  <a:srgbClr val="58645D"/>
                </a:solidFill>
                <a:latin typeface="Helvetica Neue"/>
                <a:ea typeface="Helvetica Neue"/>
                <a:cs typeface="Helvetica Neue"/>
              </a:rPr>
              <a:t>Original state detail</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018ac03db71e42fb"/>
          <a:stretch xmlns:a="http://schemas.openxmlformats.org/drawingml/2006/main"/>
        </p:blipFill>
        <p:spPr>
          <a:xfrm xmlns:a="http://schemas.openxmlformats.org/drawingml/2006/main">
            <a:off x="9087302" y="1076325"/>
            <a:ext cx="2351771" cy="5038725"/>
          </a:xfrm>
          <a:prstGeom xmlns:a="http://schemas.openxmlformats.org/drawingml/2006/main" prst="rect">
            <a:avLst/>
          </a:prstGeom>
        </p:spPr>
      </p:pic>
    </p:spTree>
    <p:extLst>
      <p:ext uri="{BB962C8B-B14F-4D97-AF65-F5344CB8AC3E}">
        <p14:creationId xmlns:p14="http://schemas.microsoft.com/office/powerpoint/2010/main" val="1424311719"/>
      </p:ext>
    </p:extLst>
  </p:cSld>
</p:sld>
</file>

<file path=ppt/slides/slide4.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10" name="slide-number">
            <a:extLst xmlns:a="http://schemas.openxmlformats.org/drawingml/2006/main">
              <a:ext uri="{FF2B5EF4-FFF2-40B4-BE49-F238E27FC236}">
                <a16:creationId xmlns:a16="http://schemas.microsoft.com/office/drawing/2014/main" id="{9ED8A18E-B1B5-4A51-B27B-76E585B5C355}"/>
              </a:ext>
            </a:extLst>
          </p:cNvPr>
          <p:cNvSpPr>
            <a:spLocks xmlns:a="http://schemas.openxmlformats.org/drawingml/2006/main" noGrp="1"/>
          </p:cNvSpPr>
          <p:nvPr/>
        </p:nvSpPr>
        <p:spPr>
          <a:xfrm xmlns:a="http://schemas.openxmlformats.org/drawingml/2006/main">
            <a:off x="11353800" y="651510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04</a:t>
            </a:r>
          </a:p>
        </p:txBody>
      </p:sp>
      <p:sp>
        <p:nvSpPr>
          <p:cNvPr id="2" name="section-label">
            <a:extLst xmlns:a="http://schemas.openxmlformats.org/drawingml/2006/main">
              <a:ext uri="{FF2B5EF4-FFF2-40B4-BE49-F238E27FC236}">
                <a16:creationId xmlns:a16="http://schemas.microsoft.com/office/drawing/2014/main" id="{CAF097C2-CF62-4FDF-A614-4A9D539A1004}"/>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FLINT   /   INTERRUPTED AND OFFLINE STATES</a:t>
            </a:r>
          </a:p>
        </p:txBody>
      </p:sp>
      <p:sp>
        <p:nvSpPr>
          <p:cNvPr id="3" name="headline">
            <a:extLst xmlns:a="http://schemas.openxmlformats.org/drawingml/2006/main">
              <a:ext uri="{FF2B5EF4-FFF2-40B4-BE49-F238E27FC236}">
                <a16:creationId xmlns:a16="http://schemas.microsoft.com/office/drawing/2014/main" id="{2C5752DD-3752-4106-B06E-0605583D20CB}"/>
              </a:ext>
            </a:extLst>
          </p:cNvPr>
          <p:cNvSpPr>
            <a:spLocks xmlns:a="http://schemas.openxmlformats.org/drawingml/2006/main" noGrp="1"/>
          </p:cNvSpPr>
          <p:nvPr/>
        </p:nvSpPr>
        <p:spPr>
          <a:xfrm xmlns:a="http://schemas.openxmlformats.org/drawingml/2006/main">
            <a:off x="609600" y="1133475"/>
            <a:ext cx="466725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675" b="1">
                <a:solidFill>
                  <a:srgbClr val="192B25"/>
                </a:solidFill>
                <a:latin typeface="Helvetica Neue"/>
                <a:ea typeface="Helvetica Neue"/>
                <a:cs typeface="Helvetica Neue"/>
              </a:defRPr>
            </a:pPr>
            <a:r>
              <a:rPr sz="3675" b="1">
                <a:solidFill>
                  <a:srgbClr val="192B25"/>
                </a:solidFill>
                <a:latin typeface="Helvetica Neue"/>
                <a:ea typeface="Helvetica Neue"/>
                <a:cs typeface="Helvetica Neue"/>
              </a:rPr>
              <a:t>Recovery follows</a:t>
            </a:r>
          </a:p>
          <a:p xmlns:a="http://schemas.openxmlformats.org/drawingml/2006/main">
            <a:pPr>
              <a:lnSpc>
                <a:spcPct val="110000"/>
              </a:lnSpc>
              <a:buNone/>
              <a:defRPr sz="3675" b="1">
                <a:solidFill>
                  <a:srgbClr val="192B25"/>
                </a:solidFill>
                <a:latin typeface="Helvetica Neue"/>
                <a:ea typeface="Helvetica Neue"/>
                <a:cs typeface="Helvetica Neue"/>
              </a:defRPr>
            </a:pPr>
            <a:r>
              <a:rPr sz="3675" b="1">
                <a:solidFill>
                  <a:srgbClr val="192B25"/>
                </a:solidFill>
                <a:latin typeface="Helvetica Neue"/>
                <a:ea typeface="Helvetica Neue"/>
                <a:cs typeface="Helvetica Neue"/>
              </a:rPr>
              <a:t>the failure</a:t>
            </a:r>
          </a:p>
        </p:txBody>
      </p:sp>
      <p:sp>
        <p:nvSpPr>
          <p:cNvPr id="4" name="recovery-decision">
            <a:extLst xmlns:a="http://schemas.openxmlformats.org/drawingml/2006/main">
              <a:ext uri="{FF2B5EF4-FFF2-40B4-BE49-F238E27FC236}">
                <a16:creationId xmlns:a16="http://schemas.microsoft.com/office/drawing/2014/main" id="{F833A5E3-747E-4211-ABEA-A70EABC3F248}"/>
              </a:ext>
            </a:extLst>
          </p:cNvPr>
          <p:cNvSpPr>
            <a:spLocks xmlns:a="http://schemas.openxmlformats.org/drawingml/2006/main" noGrp="1"/>
          </p:cNvSpPr>
          <p:nvPr/>
        </p:nvSpPr>
        <p:spPr>
          <a:xfrm xmlns:a="http://schemas.openxmlformats.org/drawingml/2006/main">
            <a:off x="609600" y="3209925"/>
            <a:ext cx="4352925"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025" b="0">
                <a:solidFill>
                  <a:srgbClr val="192B25"/>
                </a:solidFill>
                <a:latin typeface="Helvetica Neue"/>
                <a:ea typeface="Helvetica Neue"/>
                <a:cs typeface="Helvetica Neue"/>
              </a:defRPr>
            </a:pPr>
            <a:r>
              <a:rPr sz="2025" b="0">
                <a:solidFill>
                  <a:srgbClr val="192B25"/>
                </a:solidFill>
                <a:latin typeface="Helvetica Neue"/>
                <a:ea typeface="Helvetica Neue"/>
                <a:cs typeface="Helvetica Neue"/>
              </a:rPr>
              <a:t>An incomplete answer and a lost connection need different next actions.</a:t>
            </a:r>
          </a:p>
        </p:txBody>
      </p:sp>
      <p:sp>
        <p:nvSpPr>
          <p:cNvPr id="5" name="recovery-outcome">
            <a:extLst xmlns:a="http://schemas.openxmlformats.org/drawingml/2006/main">
              <a:ext uri="{FF2B5EF4-FFF2-40B4-BE49-F238E27FC236}">
                <a16:creationId xmlns:a16="http://schemas.microsoft.com/office/drawing/2014/main" id="{9BF1DBAE-5109-4B35-9E97-DDAE66987BEB}"/>
              </a:ext>
            </a:extLst>
          </p:cNvPr>
          <p:cNvSpPr>
            <a:spLocks xmlns:a="http://schemas.openxmlformats.org/drawingml/2006/main" noGrp="1"/>
          </p:cNvSpPr>
          <p:nvPr/>
        </p:nvSpPr>
        <p:spPr>
          <a:xfrm xmlns:a="http://schemas.openxmlformats.org/drawingml/2006/main">
            <a:off x="609600" y="4772025"/>
            <a:ext cx="4352925"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00" b="0">
                <a:solidFill>
                  <a:srgbClr val="58645D"/>
                </a:solidFill>
                <a:latin typeface="Helvetica Neue"/>
                <a:ea typeface="Helvetica Neue"/>
                <a:cs typeface="Helvetica Neue"/>
              </a:defRPr>
            </a:pPr>
            <a:r>
              <a:rPr sz="1800" b="0">
                <a:solidFill>
                  <a:srgbClr val="58645D"/>
                </a:solidFill>
                <a:latin typeface="Helvetica Neue"/>
                <a:ea typeface="Helvetica Neue"/>
                <a:cs typeface="Helvetica Neue"/>
              </a:rPr>
              <a:t>I assembled the flows and their next actions into an annotated handoff for engineering.</a:t>
            </a:r>
          </a:p>
        </p:txBody>
      </p:sp>
      <p:sp>
        <p:nvSpPr>
          <p:cNvPr id="6" name="incomplete-label">
            <a:extLst xmlns:a="http://schemas.openxmlformats.org/drawingml/2006/main">
              <a:ext uri="{FF2B5EF4-FFF2-40B4-BE49-F238E27FC236}">
                <a16:creationId xmlns:a16="http://schemas.microsoft.com/office/drawing/2014/main" id="{7AB5C320-C73C-44F1-91AE-0A85EDF68552}"/>
              </a:ext>
            </a:extLst>
          </p:cNvPr>
          <p:cNvSpPr>
            <a:spLocks xmlns:a="http://schemas.openxmlformats.org/drawingml/2006/main" noGrp="1"/>
          </p:cNvSpPr>
          <p:nvPr/>
        </p:nvSpPr>
        <p:spPr>
          <a:xfrm xmlns:a="http://schemas.openxmlformats.org/drawingml/2006/main">
            <a:off x="5638800" y="819150"/>
            <a:ext cx="24955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1">
                <a:solidFill>
                  <a:srgbClr val="244D3C"/>
                </a:solidFill>
                <a:latin typeface="Helvetica Neue"/>
                <a:ea typeface="Helvetica Neue"/>
                <a:cs typeface="Helvetica Neue"/>
              </a:defRPr>
            </a:pPr>
            <a:r>
              <a:rPr sz="1350" b="1">
                <a:solidFill>
                  <a:srgbClr val="244D3C"/>
                </a:solidFill>
                <a:latin typeface="Helvetica Neue"/>
                <a:ea typeface="Helvetica Neue"/>
                <a:cs typeface="Helvetica Neue"/>
              </a:rPr>
              <a:t>Incomplete answer</a:t>
            </a:r>
          </a:p>
        </p:txBody>
      </p:sp>
      <p:sp>
        <p:nvSpPr>
          <p:cNvPr id="7" name="offline-label">
            <a:extLst xmlns:a="http://schemas.openxmlformats.org/drawingml/2006/main">
              <a:ext uri="{FF2B5EF4-FFF2-40B4-BE49-F238E27FC236}">
                <a16:creationId xmlns:a16="http://schemas.microsoft.com/office/drawing/2014/main" id="{115336CE-F44F-45E6-8FF8-9E09E6C9A103}"/>
              </a:ext>
            </a:extLst>
          </p:cNvPr>
          <p:cNvSpPr>
            <a:spLocks xmlns:a="http://schemas.openxmlformats.org/drawingml/2006/main" noGrp="1"/>
          </p:cNvSpPr>
          <p:nvPr/>
        </p:nvSpPr>
        <p:spPr>
          <a:xfrm xmlns:a="http://schemas.openxmlformats.org/drawingml/2006/main">
            <a:off x="8705850" y="819150"/>
            <a:ext cx="24955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1">
                <a:solidFill>
                  <a:srgbClr val="244D3C"/>
                </a:solidFill>
                <a:latin typeface="Helvetica Neue"/>
                <a:ea typeface="Helvetica Neue"/>
                <a:cs typeface="Helvetica Neue"/>
              </a:defRPr>
            </a:pPr>
            <a:r>
              <a:rPr sz="1350" b="1">
                <a:solidFill>
                  <a:srgbClr val="244D3C"/>
                </a:solidFill>
                <a:latin typeface="Helvetica Neue"/>
                <a:ea typeface="Helvetica Neue"/>
                <a:cs typeface="Helvetica Neue"/>
              </a:rPr>
              <a:t>Connection lost</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495b209980f54a99"/>
          <a:stretch xmlns:a="http://schemas.openxmlformats.org/drawingml/2006/main"/>
        </p:blipFill>
        <p:spPr>
          <a:xfrm xmlns:a="http://schemas.openxmlformats.org/drawingml/2006/main">
            <a:off x="5706555" y="1181100"/>
            <a:ext cx="2436239" cy="5219700"/>
          </a:xfrm>
          <a:prstGeom xmlns:a="http://schemas.openxmlformats.org/drawingml/2006/main" prst="rect">
            <a:avLst/>
          </a:prstGeom>
        </p:spPr>
      </p:pic>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552dfe2e8cc64c0a"/>
          <a:stretch xmlns:a="http://schemas.openxmlformats.org/drawingml/2006/main"/>
        </p:blipFill>
        <p:spPr>
          <a:xfrm xmlns:a="http://schemas.openxmlformats.org/drawingml/2006/main">
            <a:off x="8773605" y="1181100"/>
            <a:ext cx="2436239" cy="5219700"/>
          </a:xfrm>
          <a:prstGeom xmlns:a="http://schemas.openxmlformats.org/drawingml/2006/main" prst="rect">
            <a:avLst/>
          </a:prstGeom>
        </p:spPr>
      </p:pic>
    </p:spTree>
    <p:extLst>
      <p:ext uri="{BB962C8B-B14F-4D97-AF65-F5344CB8AC3E}">
        <p14:creationId xmlns:p14="http://schemas.microsoft.com/office/powerpoint/2010/main" val="268008632"/>
      </p:ext>
    </p:extLst>
  </p:cSld>
</p:sld>
</file>

<file path=ppt/slides/slide5.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8" name="slide-number">
            <a:extLst xmlns:a="http://schemas.openxmlformats.org/drawingml/2006/main">
              <a:ext uri="{FF2B5EF4-FFF2-40B4-BE49-F238E27FC236}">
                <a16:creationId xmlns:a16="http://schemas.microsoft.com/office/drawing/2014/main" id="{5E2CF711-39FB-4113-B23E-600DD14A1757}"/>
              </a:ext>
            </a:extLst>
          </p:cNvPr>
          <p:cNvSpPr>
            <a:spLocks xmlns:a="http://schemas.openxmlformats.org/drawingml/2006/main" noGrp="1"/>
          </p:cNvSpPr>
          <p:nvPr/>
        </p:nvSpPr>
        <p:spPr>
          <a:xfrm xmlns:a="http://schemas.openxmlformats.org/drawingml/2006/main">
            <a:off x="11353800" y="651510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05</a:t>
            </a:r>
          </a:p>
        </p:txBody>
      </p:sp>
      <p:sp>
        <p:nvSpPr>
          <p:cNvPr id="2" name="section-label">
            <a:extLst xmlns:a="http://schemas.openxmlformats.org/drawingml/2006/main">
              <a:ext uri="{FF2B5EF4-FFF2-40B4-BE49-F238E27FC236}">
                <a16:creationId xmlns:a16="http://schemas.microsoft.com/office/drawing/2014/main" id="{AE382314-AA87-4CA7-BC61-9AA94051CF69}"/>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ABOUT ME   /   SMARTTAGIT, FACTORLAB</a:t>
            </a:r>
          </a:p>
        </p:txBody>
      </p:sp>
      <p:sp>
        <p:nvSpPr>
          <p:cNvPr id="3" name="headline">
            <a:extLst xmlns:a="http://schemas.openxmlformats.org/drawingml/2006/main">
              <a:ext uri="{FF2B5EF4-FFF2-40B4-BE49-F238E27FC236}">
                <a16:creationId xmlns:a16="http://schemas.microsoft.com/office/drawing/2014/main" id="{1A90B1DA-0D8D-4125-A4B6-B46E64269CCA}"/>
              </a:ext>
            </a:extLst>
          </p:cNvPr>
          <p:cNvSpPr>
            <a:spLocks xmlns:a="http://schemas.openxmlformats.org/drawingml/2006/main" noGrp="1"/>
          </p:cNvSpPr>
          <p:nvPr/>
        </p:nvSpPr>
        <p:spPr>
          <a:xfrm xmlns:a="http://schemas.openxmlformats.org/drawingml/2006/main">
            <a:off x="609600" y="1095375"/>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4050" b="1">
                <a:solidFill>
                  <a:srgbClr val="192B25"/>
                </a:solidFill>
                <a:latin typeface="Helvetica Neue"/>
                <a:ea typeface="Helvetica Neue"/>
                <a:cs typeface="Helvetica Neue"/>
              </a:defRPr>
            </a:pPr>
            <a:r>
              <a:rPr sz="4050" b="1">
                <a:solidFill>
                  <a:srgbClr val="192B25"/>
                </a:solidFill>
                <a:latin typeface="Helvetica Neue"/>
                <a:ea typeface="Helvetica Neue"/>
                <a:cs typeface="Helvetica Neue"/>
              </a:rPr>
              <a:t>Feedback</a:t>
            </a:r>
          </a:p>
          <a:p xmlns:a="http://schemas.openxmlformats.org/drawingml/2006/main">
            <a:pPr>
              <a:lnSpc>
                <a:spcPct val="110000"/>
              </a:lnSpc>
              <a:buNone/>
              <a:defRPr sz="4050" b="1">
                <a:solidFill>
                  <a:srgbClr val="192B25"/>
                </a:solidFill>
                <a:latin typeface="Helvetica Neue"/>
                <a:ea typeface="Helvetica Neue"/>
                <a:cs typeface="Helvetica Neue"/>
              </a:defRPr>
            </a:pPr>
            <a:r>
              <a:rPr sz="4050" b="1">
                <a:solidFill>
                  <a:srgbClr val="192B25"/>
                </a:solidFill>
                <a:latin typeface="Helvetica Neue"/>
                <a:ea typeface="Helvetica Neue"/>
                <a:cs typeface="Helvetica Neue"/>
              </a:rPr>
              <a:t>with context</a:t>
            </a:r>
          </a:p>
        </p:txBody>
      </p:sp>
      <p:sp>
        <p:nvSpPr>
          <p:cNvPr id="4" name="role">
            <a:extLst xmlns:a="http://schemas.openxmlformats.org/drawingml/2006/main">
              <a:ext uri="{FF2B5EF4-FFF2-40B4-BE49-F238E27FC236}">
                <a16:creationId xmlns:a16="http://schemas.microsoft.com/office/drawing/2014/main" id="{6B5DBAB9-BB69-429F-B468-25FB499F1EEB}"/>
              </a:ext>
            </a:extLst>
          </p:cNvPr>
          <p:cNvSpPr>
            <a:spLocks xmlns:a="http://schemas.openxmlformats.org/drawingml/2006/main" noGrp="1"/>
          </p:cNvSpPr>
          <p:nvPr/>
        </p:nvSpPr>
        <p:spPr>
          <a:xfrm xmlns:a="http://schemas.openxmlformats.org/drawingml/2006/main">
            <a:off x="609600" y="2724150"/>
            <a:ext cx="52673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425" b="1">
                <a:solidFill>
                  <a:srgbClr val="244D3C"/>
                </a:solidFill>
                <a:latin typeface="Helvetica Neue"/>
                <a:ea typeface="Helvetica Neue"/>
                <a:cs typeface="Helvetica Neue"/>
              </a:defRPr>
            </a:pPr>
            <a:r>
              <a:rPr sz="1425" b="1">
                <a:solidFill>
                  <a:srgbClr val="244D3C"/>
                </a:solidFill>
                <a:latin typeface="Helvetica Neue"/>
                <a:ea typeface="Helvetica Neue"/>
                <a:cs typeface="Helvetica Neue"/>
              </a:rPr>
              <a:t>UX Designer &amp; Researcher (Contract), 2026</a:t>
            </a:r>
          </a:p>
        </p:txBody>
      </p:sp>
      <p:sp>
        <p:nvSpPr>
          <p:cNvPr id="5" name="about-decision">
            <a:extLst xmlns:a="http://schemas.openxmlformats.org/drawingml/2006/main">
              <a:ext uri="{FF2B5EF4-FFF2-40B4-BE49-F238E27FC236}">
                <a16:creationId xmlns:a16="http://schemas.microsoft.com/office/drawing/2014/main" id="{717E70D8-DF9F-4C5D-8260-E18083CAD533}"/>
              </a:ext>
            </a:extLst>
          </p:cNvPr>
          <p:cNvSpPr>
            <a:spLocks xmlns:a="http://schemas.openxmlformats.org/drawingml/2006/main" noGrp="1"/>
          </p:cNvSpPr>
          <p:nvPr/>
        </p:nvSpPr>
        <p:spPr>
          <a:xfrm xmlns:a="http://schemas.openxmlformats.org/drawingml/2006/main">
            <a:off x="609600" y="3429000"/>
            <a:ext cx="4676775"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025" b="0">
                <a:solidFill>
                  <a:srgbClr val="192B25"/>
                </a:solidFill>
                <a:latin typeface="Helvetica Neue"/>
                <a:ea typeface="Helvetica Neue"/>
                <a:cs typeface="Helvetica Neue"/>
              </a:defRPr>
            </a:pPr>
            <a:r>
              <a:rPr sz="2025" b="0">
                <a:solidFill>
                  <a:srgbClr val="192B25"/>
                </a:solidFill>
                <a:latin typeface="Helvetica Neue"/>
                <a:ea typeface="Helvetica Neue"/>
                <a:cs typeface="Helvetica Neue"/>
              </a:rPr>
              <a:t>I connected a personal summary to its supporting observations and a useful next action.</a:t>
            </a:r>
          </a:p>
        </p:txBody>
      </p:sp>
      <p:sp>
        <p:nvSpPr>
          <p:cNvPr id="6" name="about-stage">
            <a:extLst xmlns:a="http://schemas.openxmlformats.org/drawingml/2006/main">
              <a:ext uri="{FF2B5EF4-FFF2-40B4-BE49-F238E27FC236}">
                <a16:creationId xmlns:a16="http://schemas.microsoft.com/office/drawing/2014/main" id="{E14CCC3B-E662-455B-B009-A8A58FBBE808}"/>
              </a:ext>
            </a:extLst>
          </p:cNvPr>
          <p:cNvSpPr>
            <a:spLocks xmlns:a="http://schemas.openxmlformats.org/drawingml/2006/main" noGrp="1"/>
          </p:cNvSpPr>
          <p:nvPr/>
        </p:nvSpPr>
        <p:spPr>
          <a:xfrm xmlns:a="http://schemas.openxmlformats.org/drawingml/2006/main">
            <a:off x="609600" y="5314950"/>
            <a:ext cx="52101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0">
                <a:solidFill>
                  <a:srgbClr val="58645D"/>
                </a:solidFill>
                <a:latin typeface="Helvetica Neue"/>
                <a:ea typeface="Helvetica Neue"/>
                <a:cs typeface="Helvetica Neue"/>
              </a:defRPr>
            </a:pPr>
            <a:r>
              <a:rPr sz="1350" b="0">
                <a:solidFill>
                  <a:srgbClr val="58645D"/>
                </a:solidFill>
                <a:latin typeface="Helvetica Neue"/>
                <a:ea typeface="Helvetica Neue"/>
                <a:cs typeface="Helvetica Neue"/>
              </a:rPr>
              <a:t>Design iterations shown with sample content.</a:t>
            </a:r>
          </a:p>
          <a:p xmlns:a="http://schemas.openxmlformats.org/drawingml/2006/main">
            <a:pPr>
              <a:lnSpc>
                <a:spcPct val="110000"/>
              </a:lnSpc>
              <a:buNone/>
              <a:defRPr sz="1350" b="0">
                <a:solidFill>
                  <a:srgbClr val="58645D"/>
                </a:solidFill>
                <a:latin typeface="Helvetica Neue"/>
                <a:ea typeface="Helvetica Neue"/>
                <a:cs typeface="Helvetica Neue"/>
              </a:defRPr>
            </a:pPr>
            <a:r>
              <a:rPr sz="1350" b="0">
                <a:solidFill>
                  <a:srgbClr val="58645D"/>
                </a:solidFill>
                <a:latin typeface="Helvetica Neue"/>
                <a:ea typeface="Helvetica Neue"/>
                <a:cs typeface="Helvetica Neue"/>
              </a:rPr>
              <a:t>Web/server release confirmed September 2, 2026.</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f395df382a34441f"/>
          <a:stretch xmlns:a="http://schemas.openxmlformats.org/drawingml/2006/main"/>
        </p:blipFill>
        <p:spPr>
          <a:xfrm xmlns:a="http://schemas.openxmlformats.org/drawingml/2006/main">
            <a:off x="6410325" y="1546021"/>
            <a:ext cx="4857750" cy="4737509"/>
          </a:xfrm>
          <a:prstGeom xmlns:a="http://schemas.openxmlformats.org/drawingml/2006/main" prst="rect">
            <a:avLst/>
          </a:prstGeom>
        </p:spPr>
      </p:pic>
    </p:spTree>
    <p:extLst>
      <p:ext uri="{BB962C8B-B14F-4D97-AF65-F5344CB8AC3E}">
        <p14:creationId xmlns:p14="http://schemas.microsoft.com/office/powerpoint/2010/main" val="915000282"/>
      </p:ext>
    </p:extLst>
  </p:cSld>
</p:sld>
</file>

<file path=ppt/slides/slide6.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8" name="slide-number">
            <a:extLst xmlns:a="http://schemas.openxmlformats.org/drawingml/2006/main">
              <a:ext uri="{FF2B5EF4-FFF2-40B4-BE49-F238E27FC236}">
                <a16:creationId xmlns:a16="http://schemas.microsoft.com/office/drawing/2014/main" id="{7A29E209-0B2F-4516-8DFF-425850D5B698}"/>
              </a:ext>
            </a:extLst>
          </p:cNvPr>
          <p:cNvSpPr>
            <a:spLocks xmlns:a="http://schemas.openxmlformats.org/drawingml/2006/main" noGrp="1"/>
          </p:cNvSpPr>
          <p:nvPr/>
        </p:nvSpPr>
        <p:spPr>
          <a:xfrm xmlns:a="http://schemas.openxmlformats.org/drawingml/2006/main">
            <a:off x="11353800" y="651510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06</a:t>
            </a:r>
          </a:p>
        </p:txBody>
      </p:sp>
      <p:sp>
        <p:nvSpPr>
          <p:cNvPr id="2" name="section-label">
            <a:extLst xmlns:a="http://schemas.openxmlformats.org/drawingml/2006/main">
              <a:ext uri="{FF2B5EF4-FFF2-40B4-BE49-F238E27FC236}">
                <a16:creationId xmlns:a16="http://schemas.microsoft.com/office/drawing/2014/main" id="{1BF4D6CE-E963-44C7-8754-817E72D94020}"/>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ABOUT ME   /   NEUTRAL COMPARISON</a:t>
            </a:r>
          </a:p>
        </p:txBody>
      </p:sp>
      <p:sp>
        <p:nvSpPr>
          <p:cNvPr id="3" name="headline">
            <a:extLst xmlns:a="http://schemas.openxmlformats.org/drawingml/2006/main">
              <a:ext uri="{FF2B5EF4-FFF2-40B4-BE49-F238E27FC236}">
                <a16:creationId xmlns:a16="http://schemas.microsoft.com/office/drawing/2014/main" id="{13A368E2-36CB-4AE3-9801-21443B6548E9}"/>
              </a:ext>
            </a:extLst>
          </p:cNvPr>
          <p:cNvSpPr>
            <a:spLocks xmlns:a="http://schemas.openxmlformats.org/drawingml/2006/main" noGrp="1"/>
          </p:cNvSpPr>
          <p:nvPr/>
        </p:nvSpPr>
        <p:spPr>
          <a:xfrm xmlns:a="http://schemas.openxmlformats.org/drawingml/2006/main">
            <a:off x="609600" y="1114425"/>
            <a:ext cx="5572125" cy="1447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675" b="1">
                <a:solidFill>
                  <a:srgbClr val="192B25"/>
                </a:solidFill>
                <a:latin typeface="Helvetica Neue"/>
                <a:ea typeface="Helvetica Neue"/>
                <a:cs typeface="Helvetica Neue"/>
              </a:defRPr>
            </a:pPr>
            <a:r>
              <a:rPr sz="3675" b="1">
                <a:solidFill>
                  <a:srgbClr val="192B25"/>
                </a:solidFill>
                <a:latin typeface="Helvetica Neue"/>
                <a:ea typeface="Helvetica Neue"/>
                <a:cs typeface="Helvetica Neue"/>
              </a:rPr>
              <a:t>A comparison needs</a:t>
            </a:r>
          </a:p>
          <a:p xmlns:a="http://schemas.openxmlformats.org/drawingml/2006/main">
            <a:pPr>
              <a:lnSpc>
                <a:spcPct val="110000"/>
              </a:lnSpc>
              <a:buNone/>
              <a:defRPr sz="3675" b="1">
                <a:solidFill>
                  <a:srgbClr val="192B25"/>
                </a:solidFill>
                <a:latin typeface="Helvetica Neue"/>
                <a:ea typeface="Helvetica Neue"/>
                <a:cs typeface="Helvetica Neue"/>
              </a:defRPr>
            </a:pPr>
            <a:r>
              <a:rPr sz="3675" b="1">
                <a:solidFill>
                  <a:srgbClr val="192B25"/>
                </a:solidFill>
                <a:latin typeface="Helvetica Neue"/>
                <a:ea typeface="Helvetica Neue"/>
                <a:cs typeface="Helvetica Neue"/>
              </a:rPr>
              <a:t>an interpretation</a:t>
            </a:r>
          </a:p>
        </p:txBody>
      </p:sp>
      <p:sp>
        <p:nvSpPr>
          <p:cNvPr id="4" name="comparison-decision">
            <a:extLst xmlns:a="http://schemas.openxmlformats.org/drawingml/2006/main">
              <a:ext uri="{FF2B5EF4-FFF2-40B4-BE49-F238E27FC236}">
                <a16:creationId xmlns:a16="http://schemas.microsoft.com/office/drawing/2014/main" id="{36D8B78A-121D-423C-BDFE-BFB9206B5683}"/>
              </a:ext>
            </a:extLst>
          </p:cNvPr>
          <p:cNvSpPr>
            <a:spLocks xmlns:a="http://schemas.openxmlformats.org/drawingml/2006/main" noGrp="1"/>
          </p:cNvSpPr>
          <p:nvPr/>
        </p:nvSpPr>
        <p:spPr>
          <a:xfrm xmlns:a="http://schemas.openxmlformats.org/drawingml/2006/main">
            <a:off x="609600" y="3181350"/>
            <a:ext cx="44005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025" b="0">
                <a:solidFill>
                  <a:srgbClr val="192B25"/>
                </a:solidFill>
                <a:latin typeface="Helvetica Neue"/>
                <a:ea typeface="Helvetica Neue"/>
                <a:cs typeface="Helvetica Neue"/>
              </a:defRPr>
            </a:pPr>
            <a:r>
              <a:rPr sz="2025" b="0">
                <a:solidFill>
                  <a:srgbClr val="192B25"/>
                </a:solidFill>
                <a:latin typeface="Helvetica Neue"/>
                <a:ea typeface="Helvetica Neue"/>
                <a:cs typeface="Helvetica Neue"/>
              </a:rPr>
              <a:t>Mentioning fatigue less often is a comparison. Whether that is good depends on the context.</a:t>
            </a:r>
          </a:p>
        </p:txBody>
      </p:sp>
      <p:sp>
        <p:nvSpPr>
          <p:cNvPr id="5" name="comparison-outcome">
            <a:extLst xmlns:a="http://schemas.openxmlformats.org/drawingml/2006/main">
              <a:ext uri="{FF2B5EF4-FFF2-40B4-BE49-F238E27FC236}">
                <a16:creationId xmlns:a16="http://schemas.microsoft.com/office/drawing/2014/main" id="{7FCEAEFD-E5FE-4FAF-B728-A9BEF89657F3}"/>
              </a:ext>
            </a:extLst>
          </p:cNvPr>
          <p:cNvSpPr>
            <a:spLocks xmlns:a="http://schemas.openxmlformats.org/drawingml/2006/main" noGrp="1"/>
          </p:cNvSpPr>
          <p:nvPr/>
        </p:nvSpPr>
        <p:spPr>
          <a:xfrm xmlns:a="http://schemas.openxmlformats.org/drawingml/2006/main">
            <a:off x="609600" y="5010150"/>
            <a:ext cx="44005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725" b="0">
                <a:solidFill>
                  <a:srgbClr val="58645D"/>
                </a:solidFill>
                <a:latin typeface="Helvetica Neue"/>
                <a:ea typeface="Helvetica Neue"/>
                <a:cs typeface="Helvetica Neue"/>
              </a:defRPr>
            </a:pPr>
            <a:r>
              <a:rPr sz="1725" b="0">
                <a:solidFill>
                  <a:srgbClr val="58645D"/>
                </a:solidFill>
                <a:latin typeface="Helvetica Neue"/>
                <a:ea typeface="Helvetica Neue"/>
                <a:cs typeface="Helvetica Neue"/>
              </a:rPr>
              <a:t>I raised the cohort, percentile and wording questions before they became interface rules.</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8400a9e5803f44a8"/>
          <a:stretch xmlns:a="http://schemas.openxmlformats.org/drawingml/2006/main"/>
        </p:blipFill>
        <p:spPr>
          <a:xfrm xmlns:a="http://schemas.openxmlformats.org/drawingml/2006/main">
            <a:off x="5876925" y="2249327"/>
            <a:ext cx="5572125" cy="3692847"/>
          </a:xfrm>
          <a:prstGeom xmlns:a="http://schemas.openxmlformats.org/drawingml/2006/main" prst="rect">
            <a:avLst/>
          </a:prstGeom>
        </p:spPr>
      </p:pic>
      <p:sp>
        <p:nvSpPr>
          <p:cNvPr id="7" name="sample-label">
            <a:extLst xmlns:a="http://schemas.openxmlformats.org/drawingml/2006/main">
              <a:ext uri="{FF2B5EF4-FFF2-40B4-BE49-F238E27FC236}">
                <a16:creationId xmlns:a16="http://schemas.microsoft.com/office/drawing/2014/main" id="{2A21790F-FDDD-4165-8FD6-239137A4C831}"/>
              </a:ext>
            </a:extLst>
          </p:cNvPr>
          <p:cNvSpPr>
            <a:spLocks xmlns:a="http://schemas.openxmlformats.org/drawingml/2006/main" noGrp="1"/>
          </p:cNvSpPr>
          <p:nvPr/>
        </p:nvSpPr>
        <p:spPr>
          <a:xfrm xmlns:a="http://schemas.openxmlformats.org/drawingml/2006/main">
            <a:off x="5915025" y="6153150"/>
            <a:ext cx="5505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a:solidFill>
                  <a:srgbClr val="58645D"/>
                </a:solidFill>
                <a:latin typeface="Helvetica Neue"/>
                <a:ea typeface="Helvetica Neue"/>
                <a:cs typeface="Helvetica Neue"/>
              </a:defRPr>
            </a:pPr>
            <a:r>
              <a:rPr sz="1200" b="0">
                <a:solidFill>
                  <a:srgbClr val="58645D"/>
                </a:solidFill>
                <a:latin typeface="Helvetica Neue"/>
                <a:ea typeface="Helvetica Neue"/>
                <a:cs typeface="Helvetica Neue"/>
              </a:rPr>
              <a:t>Original widget, illustrative values</a:t>
            </a:r>
          </a:p>
        </p:txBody>
      </p:sp>
    </p:spTree>
    <p:extLst>
      <p:ext uri="{BB962C8B-B14F-4D97-AF65-F5344CB8AC3E}">
        <p14:creationId xmlns:p14="http://schemas.microsoft.com/office/powerpoint/2010/main" val="1894278546"/>
      </p:ext>
    </p:extLst>
  </p:cSld>
</p:sld>
</file>

<file path=ppt/slides/slide7.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8" name="slide-number">
            <a:extLst xmlns:a="http://schemas.openxmlformats.org/drawingml/2006/main">
              <a:ext uri="{FF2B5EF4-FFF2-40B4-BE49-F238E27FC236}">
                <a16:creationId xmlns:a16="http://schemas.microsoft.com/office/drawing/2014/main" id="{7E4DA758-CF75-459A-869B-53C55E84BF82}"/>
              </a:ext>
            </a:extLst>
          </p:cNvPr>
          <p:cNvSpPr>
            <a:spLocks xmlns:a="http://schemas.openxmlformats.org/drawingml/2006/main" noGrp="1"/>
          </p:cNvSpPr>
          <p:nvPr/>
        </p:nvSpPr>
        <p:spPr>
          <a:xfrm xmlns:a="http://schemas.openxmlformats.org/drawingml/2006/main">
            <a:off x="11353800" y="651510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07</a:t>
            </a:r>
          </a:p>
        </p:txBody>
      </p:sp>
      <p:sp>
        <p:nvSpPr>
          <p:cNvPr id="2" name="section-label">
            <a:extLst xmlns:a="http://schemas.openxmlformats.org/drawingml/2006/main">
              <a:ext uri="{FF2B5EF4-FFF2-40B4-BE49-F238E27FC236}">
                <a16:creationId xmlns:a16="http://schemas.microsoft.com/office/drawing/2014/main" id="{60FBD816-F314-4599-BCBC-F728BF446F5F}"/>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OAK AI   /   LEAD UX RESEARCHER, 2023–2025</a:t>
            </a:r>
          </a:p>
        </p:txBody>
      </p:sp>
      <p:sp>
        <p:nvSpPr>
          <p:cNvPr id="3" name="headline">
            <a:extLst xmlns:a="http://schemas.openxmlformats.org/drawingml/2006/main">
              <a:ext uri="{FF2B5EF4-FFF2-40B4-BE49-F238E27FC236}">
                <a16:creationId xmlns:a16="http://schemas.microsoft.com/office/drawing/2014/main" id="{FFDBC860-B2EC-4180-888B-09C0F2BD9038}"/>
              </a:ext>
            </a:extLst>
          </p:cNvPr>
          <p:cNvSpPr>
            <a:spLocks xmlns:a="http://schemas.openxmlformats.org/drawingml/2006/main" noGrp="1"/>
          </p:cNvSpPr>
          <p:nvPr/>
        </p:nvSpPr>
        <p:spPr>
          <a:xfrm xmlns:a="http://schemas.openxmlformats.org/drawingml/2006/main">
            <a:off x="609600" y="1104900"/>
            <a:ext cx="42481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750" b="1">
                <a:solidFill>
                  <a:srgbClr val="192B25"/>
                </a:solidFill>
                <a:latin typeface="Helvetica Neue"/>
                <a:ea typeface="Helvetica Neue"/>
                <a:cs typeface="Helvetica Neue"/>
              </a:defRPr>
            </a:pPr>
            <a:r>
              <a:rPr sz="3750" b="1">
                <a:solidFill>
                  <a:srgbClr val="192B25"/>
                </a:solidFill>
                <a:latin typeface="Helvetica Neue"/>
                <a:ea typeface="Helvetica Neue"/>
                <a:cs typeface="Helvetica Neue"/>
              </a:rPr>
              <a:t>Competing</a:t>
            </a:r>
          </a:p>
          <a:p xmlns:a="http://schemas.openxmlformats.org/drawingml/2006/main">
            <a:pPr>
              <a:lnSpc>
                <a:spcPct val="110000"/>
              </a:lnSpc>
              <a:buNone/>
              <a:defRPr sz="3750" b="1">
                <a:solidFill>
                  <a:srgbClr val="192B25"/>
                </a:solidFill>
                <a:latin typeface="Helvetica Neue"/>
                <a:ea typeface="Helvetica Neue"/>
                <a:cs typeface="Helvetica Neue"/>
              </a:defRPr>
            </a:pPr>
            <a:r>
              <a:rPr sz="3750" b="1">
                <a:solidFill>
                  <a:srgbClr val="192B25"/>
                </a:solidFill>
                <a:latin typeface="Helvetica Neue"/>
                <a:ea typeface="Helvetica Neue"/>
                <a:cs typeface="Helvetica Neue"/>
              </a:rPr>
              <a:t>entry points</a:t>
            </a:r>
          </a:p>
        </p:txBody>
      </p:sp>
      <p:sp>
        <p:nvSpPr>
          <p:cNvPr id="4" name="oak-observation">
            <a:extLst xmlns:a="http://schemas.openxmlformats.org/drawingml/2006/main">
              <a:ext uri="{FF2B5EF4-FFF2-40B4-BE49-F238E27FC236}">
                <a16:creationId xmlns:a16="http://schemas.microsoft.com/office/drawing/2014/main" id="{6B3D66E1-5B1E-493D-831A-491D23B037CB}"/>
              </a:ext>
            </a:extLst>
          </p:cNvPr>
          <p:cNvSpPr>
            <a:spLocks xmlns:a="http://schemas.openxmlformats.org/drawingml/2006/main" noGrp="1"/>
          </p:cNvSpPr>
          <p:nvPr/>
        </p:nvSpPr>
        <p:spPr>
          <a:xfrm xmlns:a="http://schemas.openxmlformats.org/drawingml/2006/main">
            <a:off x="609600" y="2981325"/>
            <a:ext cx="4057650" cy="1743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950" b="0">
                <a:solidFill>
                  <a:srgbClr val="192B25"/>
                </a:solidFill>
                <a:latin typeface="Helvetica Neue"/>
                <a:ea typeface="Helvetica Neue"/>
                <a:cs typeface="Helvetica Neue"/>
              </a:defRPr>
            </a:pPr>
            <a:r>
              <a:rPr sz="1950" b="0">
                <a:solidFill>
                  <a:srgbClr val="192B25"/>
                </a:solidFill>
                <a:latin typeface="Helvetica Neue"/>
                <a:ea typeface="Helvetica Neue"/>
                <a:cs typeface="Helvetica Neue"/>
              </a:rPr>
              <a:t>Training an assistant, starting a Vibecheck and requesting support competed at the same entry point.</a:t>
            </a:r>
          </a:p>
        </p:txBody>
      </p:sp>
      <p:sp>
        <p:nvSpPr>
          <p:cNvPr id="5" name="oak-rationale">
            <a:extLst xmlns:a="http://schemas.openxmlformats.org/drawingml/2006/main">
              <a:ext uri="{FF2B5EF4-FFF2-40B4-BE49-F238E27FC236}">
                <a16:creationId xmlns:a16="http://schemas.microsoft.com/office/drawing/2014/main" id="{33614EEE-D16D-4FF3-A662-4B5DAA76DD59}"/>
              </a:ext>
            </a:extLst>
          </p:cNvPr>
          <p:cNvSpPr>
            <a:spLocks xmlns:a="http://schemas.openxmlformats.org/drawingml/2006/main" noGrp="1"/>
          </p:cNvSpPr>
          <p:nvPr/>
        </p:nvSpPr>
        <p:spPr>
          <a:xfrm xmlns:a="http://schemas.openxmlformats.org/drawingml/2006/main">
            <a:off x="609600" y="5038725"/>
            <a:ext cx="40576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725" b="0">
                <a:solidFill>
                  <a:srgbClr val="58645D"/>
                </a:solidFill>
                <a:latin typeface="Helvetica Neue"/>
                <a:ea typeface="Helvetica Neue"/>
                <a:cs typeface="Helvetica Neue"/>
              </a:defRPr>
            </a:pPr>
            <a:r>
              <a:rPr sz="1725" b="0">
                <a:solidFill>
                  <a:srgbClr val="58645D"/>
                </a:solidFill>
                <a:latin typeface="Helvetica Neue"/>
                <a:ea typeface="Helvetica Neue"/>
                <a:cs typeface="Helvetica Neue"/>
              </a:rPr>
              <a:t>I used the audit to make these choices explicit for the team’s review.</a:t>
            </a:r>
          </a:p>
        </p:txBody>
      </p:sp>
      <p:sp>
        <p:nvSpPr>
          <p:cNvPr id="6" name="oak-stage">
            <a:extLst xmlns:a="http://schemas.openxmlformats.org/drawingml/2006/main">
              <a:ext uri="{FF2B5EF4-FFF2-40B4-BE49-F238E27FC236}">
                <a16:creationId xmlns:a16="http://schemas.microsoft.com/office/drawing/2014/main" id="{D11CD25D-10A8-44F9-8E66-32E49BFD8490}"/>
              </a:ext>
            </a:extLst>
          </p:cNvPr>
          <p:cNvSpPr>
            <a:spLocks xmlns:a="http://schemas.openxmlformats.org/drawingml/2006/main" noGrp="1"/>
          </p:cNvSpPr>
          <p:nvPr/>
        </p:nvSpPr>
        <p:spPr>
          <a:xfrm xmlns:a="http://schemas.openxmlformats.org/drawingml/2006/main">
            <a:off x="609600" y="6096000"/>
            <a:ext cx="4248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a:solidFill>
                  <a:srgbClr val="58645D"/>
                </a:solidFill>
                <a:latin typeface="Helvetica Neue"/>
                <a:ea typeface="Helvetica Neue"/>
                <a:cs typeface="Helvetica Neue"/>
              </a:defRPr>
            </a:pPr>
            <a:r>
              <a:rPr sz="1200" b="0">
                <a:solidFill>
                  <a:srgbClr val="58645D"/>
                </a:solidFill>
                <a:latin typeface="Helvetica Neue"/>
                <a:ea typeface="Helvetica Neue"/>
                <a:cs typeface="Helvetica Neue"/>
              </a:rPr>
              <a:t>Usability evaluation and design recommendations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3f427a66e89b46c8"/>
          <a:stretch xmlns:a="http://schemas.openxmlformats.org/drawingml/2006/main"/>
        </p:blipFill>
        <p:spPr>
          <a:xfrm xmlns:a="http://schemas.openxmlformats.org/drawingml/2006/main">
            <a:off x="5147971" y="1438275"/>
            <a:ext cx="6429958" cy="5048250"/>
          </a:xfrm>
          <a:prstGeom xmlns:a="http://schemas.openxmlformats.org/drawingml/2006/main" prst="rect">
            <a:avLst/>
          </a:prstGeom>
        </p:spPr>
      </p:pic>
    </p:spTree>
    <p:extLst>
      <p:ext uri="{BB962C8B-B14F-4D97-AF65-F5344CB8AC3E}">
        <p14:creationId xmlns:p14="http://schemas.microsoft.com/office/powerpoint/2010/main" val="810396139"/>
      </p:ext>
    </p:extLst>
  </p:cSld>
</p:sld>
</file>

<file path=ppt/slides/slide8.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13" name="slide-number">
            <a:extLst xmlns:a="http://schemas.openxmlformats.org/drawingml/2006/main">
              <a:ext uri="{FF2B5EF4-FFF2-40B4-BE49-F238E27FC236}">
                <a16:creationId xmlns:a16="http://schemas.microsoft.com/office/drawing/2014/main" id="{8D193A52-7461-49EF-A2AD-F919D665A682}"/>
              </a:ext>
            </a:extLst>
          </p:cNvPr>
          <p:cNvSpPr>
            <a:spLocks xmlns:a="http://schemas.openxmlformats.org/drawingml/2006/main" noGrp="1"/>
          </p:cNvSpPr>
          <p:nvPr/>
        </p:nvSpPr>
        <p:spPr>
          <a:xfrm xmlns:a="http://schemas.openxmlformats.org/drawingml/2006/main">
            <a:off x="11353800" y="651510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08</a:t>
            </a:r>
          </a:p>
        </p:txBody>
      </p:sp>
      <p:sp>
        <p:nvSpPr>
          <p:cNvPr id="2" name="section-label">
            <a:extLst xmlns:a="http://schemas.openxmlformats.org/drawingml/2006/main">
              <a:ext uri="{FF2B5EF4-FFF2-40B4-BE49-F238E27FC236}">
                <a16:creationId xmlns:a16="http://schemas.microsoft.com/office/drawing/2014/main" id="{1317D2B6-2D0F-42EA-8033-FA4112BA6079}"/>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OAK AI   /   LOGIN FEEDBACK</a:t>
            </a:r>
          </a:p>
        </p:txBody>
      </p:sp>
      <p:sp>
        <p:nvSpPr>
          <p:cNvPr id="3" name="headline">
            <a:extLst xmlns:a="http://schemas.openxmlformats.org/drawingml/2006/main">
              <a:ext uri="{FF2B5EF4-FFF2-40B4-BE49-F238E27FC236}">
                <a16:creationId xmlns:a16="http://schemas.microsoft.com/office/drawing/2014/main" id="{A3EC6DD5-D8F8-44E9-A662-4940FA2EC990}"/>
              </a:ext>
            </a:extLst>
          </p:cNvPr>
          <p:cNvSpPr>
            <a:spLocks xmlns:a="http://schemas.openxmlformats.org/drawingml/2006/main" noGrp="1"/>
          </p:cNvSpPr>
          <p:nvPr/>
        </p:nvSpPr>
        <p:spPr>
          <a:xfrm xmlns:a="http://schemas.openxmlformats.org/drawingml/2006/main">
            <a:off x="609600" y="1143000"/>
            <a:ext cx="42100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450" b="1">
                <a:solidFill>
                  <a:srgbClr val="192B25"/>
                </a:solidFill>
                <a:latin typeface="Helvetica Neue"/>
                <a:ea typeface="Helvetica Neue"/>
                <a:cs typeface="Helvetica Neue"/>
              </a:defRPr>
            </a:pPr>
            <a:r>
              <a:rPr sz="3450" b="1">
                <a:solidFill>
                  <a:srgbClr val="192B25"/>
                </a:solidFill>
                <a:latin typeface="Helvetica Neue"/>
                <a:ea typeface="Helvetica Neue"/>
                <a:cs typeface="Helvetica Neue"/>
              </a:rPr>
              <a:t>Error feedback</a:t>
            </a:r>
          </a:p>
          <a:p xmlns:a="http://schemas.openxmlformats.org/drawingml/2006/main">
            <a:pPr>
              <a:lnSpc>
                <a:spcPct val="110000"/>
              </a:lnSpc>
              <a:buNone/>
              <a:defRPr sz="3450" b="1">
                <a:solidFill>
                  <a:srgbClr val="192B25"/>
                </a:solidFill>
                <a:latin typeface="Helvetica Neue"/>
                <a:ea typeface="Helvetica Neue"/>
                <a:cs typeface="Helvetica Neue"/>
              </a:defRPr>
            </a:pPr>
            <a:r>
              <a:rPr sz="3450" b="1">
                <a:solidFill>
                  <a:srgbClr val="192B25"/>
                </a:solidFill>
                <a:latin typeface="Helvetica Neue"/>
                <a:ea typeface="Helvetica Neue"/>
                <a:cs typeface="Helvetica Neue"/>
              </a:rPr>
              <a:t>beside the field</a:t>
            </a:r>
          </a:p>
        </p:txBody>
      </p:sp>
      <p:sp>
        <p:nvSpPr>
          <p:cNvPr id="4" name="oak-error-decision">
            <a:extLst xmlns:a="http://schemas.openxmlformats.org/drawingml/2006/main">
              <a:ext uri="{FF2B5EF4-FFF2-40B4-BE49-F238E27FC236}">
                <a16:creationId xmlns:a16="http://schemas.microsoft.com/office/drawing/2014/main" id="{D4327DB8-244E-477C-A5D1-C4DE31360DA4}"/>
              </a:ext>
            </a:extLst>
          </p:cNvPr>
          <p:cNvSpPr>
            <a:spLocks xmlns:a="http://schemas.openxmlformats.org/drawingml/2006/main" noGrp="1"/>
          </p:cNvSpPr>
          <p:nvPr/>
        </p:nvSpPr>
        <p:spPr>
          <a:xfrm xmlns:a="http://schemas.openxmlformats.org/drawingml/2006/main">
            <a:off x="609600" y="3276600"/>
            <a:ext cx="3495675"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025" b="0">
                <a:solidFill>
                  <a:srgbClr val="192B25"/>
                </a:solidFill>
                <a:latin typeface="Helvetica Neue"/>
                <a:ea typeface="Helvetica Neue"/>
                <a:cs typeface="Helvetica Neue"/>
              </a:defRPr>
            </a:pPr>
            <a:r>
              <a:rPr sz="2025" b="0">
                <a:solidFill>
                  <a:srgbClr val="192B25"/>
                </a:solidFill>
                <a:latin typeface="Helvetica Neue"/>
                <a:ea typeface="Helvetica Neue"/>
                <a:cs typeface="Helvetica Neue"/>
              </a:rPr>
              <a:t>I made the problem field visible where a person could act on it.</a:t>
            </a:r>
          </a:p>
        </p:txBody>
      </p:sp>
      <p:sp>
        <p:nvSpPr>
          <p:cNvPr id="5" name="oak-error-outcome">
            <a:extLst xmlns:a="http://schemas.openxmlformats.org/drawingml/2006/main">
              <a:ext uri="{FF2B5EF4-FFF2-40B4-BE49-F238E27FC236}">
                <a16:creationId xmlns:a16="http://schemas.microsoft.com/office/drawing/2014/main" id="{05209FDC-426C-47D1-8592-8A2DC5B28247}"/>
              </a:ext>
            </a:extLst>
          </p:cNvPr>
          <p:cNvSpPr>
            <a:spLocks xmlns:a="http://schemas.openxmlformats.org/drawingml/2006/main" noGrp="1"/>
          </p:cNvSpPr>
          <p:nvPr/>
        </p:nvSpPr>
        <p:spPr>
          <a:xfrm xmlns:a="http://schemas.openxmlformats.org/drawingml/2006/main">
            <a:off x="609600" y="4848225"/>
            <a:ext cx="349567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725" b="0">
                <a:solidFill>
                  <a:srgbClr val="58645D"/>
                </a:solidFill>
                <a:latin typeface="Helvetica Neue"/>
                <a:ea typeface="Helvetica Neue"/>
                <a:cs typeface="Helvetica Neue"/>
              </a:defRPr>
            </a:pPr>
            <a:r>
              <a:rPr sz="1725" b="0">
                <a:solidFill>
                  <a:srgbClr val="58645D"/>
                </a:solidFill>
                <a:latin typeface="Helvetica Neue"/>
                <a:ea typeface="Helvetica Neue"/>
                <a:cs typeface="Helvetica Neue"/>
              </a:rPr>
              <a:t>The recommendation gave the team a specific behavior to discuss and prioritize.</a:t>
            </a:r>
          </a:p>
        </p:txBody>
      </p:sp>
      <p:sp>
        <p:nvSpPr>
          <p:cNvPr id="6" name="before-label">
            <a:extLst xmlns:a="http://schemas.openxmlformats.org/drawingml/2006/main">
              <a:ext uri="{FF2B5EF4-FFF2-40B4-BE49-F238E27FC236}">
                <a16:creationId xmlns:a16="http://schemas.microsoft.com/office/drawing/2014/main" id="{D7EF5E1B-3EBC-407A-AE7E-AE56FB2B70E0}"/>
              </a:ext>
            </a:extLst>
          </p:cNvPr>
          <p:cNvSpPr>
            <a:spLocks xmlns:a="http://schemas.openxmlformats.org/drawingml/2006/main" noGrp="1"/>
          </p:cNvSpPr>
          <p:nvPr/>
        </p:nvSpPr>
        <p:spPr>
          <a:xfrm xmlns:a="http://schemas.openxmlformats.org/drawingml/2006/main">
            <a:off x="4495800" y="1828800"/>
            <a:ext cx="3314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1">
                <a:solidFill>
                  <a:srgbClr val="244D3C"/>
                </a:solidFill>
                <a:latin typeface="Helvetica Neue"/>
                <a:ea typeface="Helvetica Neue"/>
                <a:cs typeface="Helvetica Neue"/>
              </a:defRPr>
            </a:pPr>
            <a:r>
              <a:rPr sz="1350" b="1">
                <a:solidFill>
                  <a:srgbClr val="244D3C"/>
                </a:solidFill>
                <a:latin typeface="Helvetica Neue"/>
                <a:ea typeface="Helvetica Neue"/>
                <a:cs typeface="Helvetica Neue"/>
              </a:rPr>
              <a:t>Original</a:t>
            </a:r>
          </a:p>
        </p:txBody>
      </p:sp>
      <p:sp>
        <p:nvSpPr>
          <p:cNvPr id="7" name="after-label">
            <a:extLst xmlns:a="http://schemas.openxmlformats.org/drawingml/2006/main">
              <a:ext uri="{FF2B5EF4-FFF2-40B4-BE49-F238E27FC236}">
                <a16:creationId xmlns:a16="http://schemas.microsoft.com/office/drawing/2014/main" id="{76B5546B-00E7-4D41-B78F-74C991996400}"/>
              </a:ext>
            </a:extLst>
          </p:cNvPr>
          <p:cNvSpPr>
            <a:spLocks xmlns:a="http://schemas.openxmlformats.org/drawingml/2006/main" noGrp="1"/>
          </p:cNvSpPr>
          <p:nvPr/>
        </p:nvSpPr>
        <p:spPr>
          <a:xfrm xmlns:a="http://schemas.openxmlformats.org/drawingml/2006/main">
            <a:off x="8124825" y="1828800"/>
            <a:ext cx="3314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1">
                <a:solidFill>
                  <a:srgbClr val="244D3C"/>
                </a:solidFill>
                <a:latin typeface="Helvetica Neue"/>
                <a:ea typeface="Helvetica Neue"/>
                <a:cs typeface="Helvetica Neue"/>
              </a:defRPr>
            </a:pPr>
            <a:r>
              <a:rPr sz="1350" b="1">
                <a:solidFill>
                  <a:srgbClr val="244D3C"/>
                </a:solidFill>
                <a:latin typeface="Helvetica Neue"/>
                <a:ea typeface="Helvetica Neue"/>
                <a:cs typeface="Helvetica Neue"/>
              </a:rPr>
              <a:t>Proposed</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502d920dc6614ce7"/>
          <a:stretch xmlns:a="http://schemas.openxmlformats.org/drawingml/2006/main"/>
        </p:blipFill>
        <p:spPr>
          <a:xfrm xmlns:a="http://schemas.openxmlformats.org/drawingml/2006/main">
            <a:off x="4495800" y="2517745"/>
            <a:ext cx="3314700" cy="2689285"/>
          </a:xfrm>
          <a:prstGeom xmlns:a="http://schemas.openxmlformats.org/drawingml/2006/main" prst="rect">
            <a:avLst/>
          </a:prstGeom>
        </p:spPr>
      </p:pic>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287fed1b19724a69"/>
          <a:stretch xmlns:a="http://schemas.openxmlformats.org/drawingml/2006/main"/>
        </p:blipFill>
        <p:spPr>
          <a:xfrm xmlns:a="http://schemas.openxmlformats.org/drawingml/2006/main">
            <a:off x="8124825" y="2674620"/>
            <a:ext cx="3314700" cy="2375535"/>
          </a:xfrm>
          <a:prstGeom xmlns:a="http://schemas.openxmlformats.org/drawingml/2006/main" prst="rect">
            <a:avLst/>
          </a:prstGeom>
        </p:spPr>
      </p:pic>
      <p:sp>
        <p:nvSpPr>
          <p:cNvPr id="10" name="footer-label">
            <a:extLst xmlns:a="http://schemas.openxmlformats.org/drawingml/2006/main">
              <a:ext uri="{FF2B5EF4-FFF2-40B4-BE49-F238E27FC236}">
                <a16:creationId xmlns:a16="http://schemas.microsoft.com/office/drawing/2014/main" id="{94440B31-1940-4AD9-B96F-97326B698058}"/>
              </a:ext>
            </a:extLst>
          </p:cNvPr>
          <p:cNvSpPr>
            <a:spLocks xmlns:a="http://schemas.openxmlformats.org/drawingml/2006/main" noGrp="1"/>
          </p:cNvSpPr>
          <p:nvPr/>
        </p:nvSpPr>
        <p:spPr>
          <a:xfrm xmlns:a="http://schemas.openxmlformats.org/drawingml/2006/main">
            <a:off x="4495800" y="5514975"/>
            <a:ext cx="3314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75" b="0">
                <a:solidFill>
                  <a:srgbClr val="58645D"/>
                </a:solidFill>
                <a:latin typeface="Helvetica Neue"/>
                <a:ea typeface="Helvetica Neue"/>
                <a:cs typeface="Helvetica Neue"/>
              </a:defRPr>
            </a:pPr>
            <a:r>
              <a:rPr sz="1275" b="0">
                <a:solidFill>
                  <a:srgbClr val="58645D"/>
                </a:solidFill>
                <a:latin typeface="Helvetica Neue"/>
                <a:ea typeface="Helvetica Neue"/>
                <a:cs typeface="Helvetica Neue"/>
              </a:rPr>
              <a:t>Original error at the page footer</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aca85ab144f24be4"/>
          <a:stretch xmlns:a="http://schemas.openxmlformats.org/drawingml/2006/main"/>
        </p:blipFill>
        <p:spPr>
          <a:xfrm xmlns:a="http://schemas.openxmlformats.org/drawingml/2006/main">
            <a:off x="4495800" y="5918026"/>
            <a:ext cx="3314700" cy="317848"/>
          </a:xfrm>
          <a:prstGeom xmlns:a="http://schemas.openxmlformats.org/drawingml/2006/main" prst="rect">
            <a:avLst/>
          </a:prstGeom>
        </p:spPr>
      </p:pic>
      <p:sp>
        <p:nvSpPr>
          <p:cNvPr id="12" name="field-label">
            <a:extLst xmlns:a="http://schemas.openxmlformats.org/drawingml/2006/main">
              <a:ext uri="{FF2B5EF4-FFF2-40B4-BE49-F238E27FC236}">
                <a16:creationId xmlns:a16="http://schemas.microsoft.com/office/drawing/2014/main" id="{52C6581C-9673-41DF-B3E5-34B19C7F69E2}"/>
              </a:ext>
            </a:extLst>
          </p:cNvPr>
          <p:cNvSpPr>
            <a:spLocks xmlns:a="http://schemas.openxmlformats.org/drawingml/2006/main" noGrp="1"/>
          </p:cNvSpPr>
          <p:nvPr/>
        </p:nvSpPr>
        <p:spPr>
          <a:xfrm xmlns:a="http://schemas.openxmlformats.org/drawingml/2006/main">
            <a:off x="8124825" y="5514975"/>
            <a:ext cx="33147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75" b="0">
                <a:solidFill>
                  <a:srgbClr val="58645D"/>
                </a:solidFill>
                <a:latin typeface="Helvetica Neue"/>
                <a:ea typeface="Helvetica Neue"/>
                <a:cs typeface="Helvetica Neue"/>
              </a:defRPr>
            </a:pPr>
            <a:r>
              <a:rPr sz="1275" b="0">
                <a:solidFill>
                  <a:srgbClr val="58645D"/>
                </a:solidFill>
                <a:latin typeface="Helvetica Neue"/>
                <a:ea typeface="Helvetica Neue"/>
                <a:cs typeface="Helvetica Neue"/>
              </a:rPr>
              <a:t>Proposed feedback beside the field</a:t>
            </a:r>
          </a:p>
        </p:txBody>
      </p:sp>
    </p:spTree>
    <p:extLst>
      <p:ext uri="{BB962C8B-B14F-4D97-AF65-F5344CB8AC3E}">
        <p14:creationId xmlns:p14="http://schemas.microsoft.com/office/powerpoint/2010/main" val="433216434"/>
      </p:ext>
    </p:extLst>
  </p:cSld>
</p:sld>
</file>

<file path=ppt/slides/slide9.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9" name="slide-number">
            <a:extLst xmlns:a="http://schemas.openxmlformats.org/drawingml/2006/main">
              <a:ext uri="{FF2B5EF4-FFF2-40B4-BE49-F238E27FC236}">
                <a16:creationId xmlns:a16="http://schemas.microsoft.com/office/drawing/2014/main" id="{3F999CA6-BA9B-4C29-B9C3-9EA95C2299A0}"/>
              </a:ext>
            </a:extLst>
          </p:cNvPr>
          <p:cNvSpPr>
            <a:spLocks xmlns:a="http://schemas.openxmlformats.org/drawingml/2006/main" noGrp="1"/>
          </p:cNvSpPr>
          <p:nvPr/>
        </p:nvSpPr>
        <p:spPr>
          <a:xfrm xmlns:a="http://schemas.openxmlformats.org/drawingml/2006/main">
            <a:off x="11353800" y="651510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09</a:t>
            </a:r>
          </a:p>
        </p:txBody>
      </p:sp>
      <p:sp>
        <p:nvSpPr>
          <p:cNvPr id="2" name="story-image-surface">
            <a:extLst xmlns:a="http://schemas.openxmlformats.org/drawingml/2006/main">
              <a:ext uri="{FF2B5EF4-FFF2-40B4-BE49-F238E27FC236}">
                <a16:creationId xmlns:a16="http://schemas.microsoft.com/office/drawing/2014/main" id="{37C295FC-37B4-414D-B043-F385475C305D}"/>
              </a:ext>
            </a:extLst>
          </p:cNvPr>
          <p:cNvSpPr>
            <a:spLocks xmlns:a="http://schemas.openxmlformats.org/drawingml/2006/main" noGrp="1"/>
          </p:cNvSpPr>
          <p:nvPr/>
        </p:nvSpPr>
        <p:spPr>
          <a:xfrm xmlns:a="http://schemas.openxmlformats.org/drawingml/2006/main">
            <a:off x="6705600" y="0"/>
            <a:ext cx="5486400" cy="6858000"/>
          </a:xfrm>
          <a:prstGeom xmlns:a="http://schemas.openxmlformats.org/drawingml/2006/main" prst="rect">
            <a:avLst/>
          </a:prstGeom>
          <a:solidFill xmlns:a="http://schemas.openxmlformats.org/drawingml/2006/main">
            <a:srgbClr val="E1E8DB"/>
          </a:solidFill>
          <a:ln xmlns:a="http://schemas.openxmlformats.org/drawingml/2006/main" w="0">
            <a:noFill/>
          </a:ln>
        </p:spPr>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6cdbc1db358d44d8"/>
          <a:stretch xmlns:a="http://schemas.openxmlformats.org/drawingml/2006/main"/>
        </p:blipFill>
        <p:spPr>
          <a:xfrm xmlns:a="http://schemas.openxmlformats.org/drawingml/2006/main">
            <a:off x="7010400" y="1466850"/>
            <a:ext cx="4876800" cy="4876800"/>
          </a:xfrm>
          <a:prstGeom xmlns:a="http://schemas.openxmlformats.org/drawingml/2006/main" prst="rect">
            <a:avLst/>
          </a:prstGeom>
        </p:spPr>
      </p:pic>
      <p:sp>
        <p:nvSpPr>
          <p:cNvPr id="4" name="section-label">
            <a:extLst xmlns:a="http://schemas.openxmlformats.org/drawingml/2006/main">
              <a:ext uri="{FF2B5EF4-FFF2-40B4-BE49-F238E27FC236}">
                <a16:creationId xmlns:a16="http://schemas.microsoft.com/office/drawing/2014/main" id="{BA4FA6FD-61E6-4FFB-B8C0-65202C8141BD}"/>
              </a:ext>
            </a:extLst>
          </p:cNvPr>
          <p:cNvSpPr>
            <a:spLocks xmlns:a="http://schemas.openxmlformats.org/drawingml/2006/main" noGrp="1"/>
          </p:cNvSpPr>
          <p:nvPr/>
        </p:nvSpPr>
        <p:spPr>
          <a:xfrm xmlns:a="http://schemas.openxmlformats.org/drawingml/2006/main">
            <a:off x="609600" y="514350"/>
            <a:ext cx="5753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THE THREAD THROUGH MY WORK</a:t>
            </a:r>
          </a:p>
        </p:txBody>
      </p:sp>
      <p:sp>
        <p:nvSpPr>
          <p:cNvPr id="5" name="headline">
            <a:extLst xmlns:a="http://schemas.openxmlformats.org/drawingml/2006/main">
              <a:ext uri="{FF2B5EF4-FFF2-40B4-BE49-F238E27FC236}">
                <a16:creationId xmlns:a16="http://schemas.microsoft.com/office/drawing/2014/main" id="{2518CD23-CC52-4972-A456-EE8C3A80F789}"/>
              </a:ext>
            </a:extLst>
          </p:cNvPr>
          <p:cNvSpPr>
            <a:spLocks xmlns:a="http://schemas.openxmlformats.org/drawingml/2006/main" noGrp="1"/>
          </p:cNvSpPr>
          <p:nvPr/>
        </p:nvSpPr>
        <p:spPr>
          <a:xfrm xmlns:a="http://schemas.openxmlformats.org/drawingml/2006/main">
            <a:off x="609600" y="1438275"/>
            <a:ext cx="573405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675" b="1">
                <a:solidFill>
                  <a:srgbClr val="192B25"/>
                </a:solidFill>
                <a:latin typeface="Helvetica Neue"/>
                <a:ea typeface="Helvetica Neue"/>
                <a:cs typeface="Helvetica Neue"/>
              </a:defRPr>
            </a:pPr>
            <a:r>
              <a:rPr sz="3675" b="1">
                <a:solidFill>
                  <a:srgbClr val="192B25"/>
                </a:solidFill>
                <a:latin typeface="Helvetica Neue"/>
                <a:ea typeface="Helvetica Neue"/>
                <a:cs typeface="Helvetica Neue"/>
              </a:rPr>
              <a:t>I started by listening</a:t>
            </a:r>
          </a:p>
          <a:p xmlns:a="http://schemas.openxmlformats.org/drawingml/2006/main">
            <a:pPr>
              <a:lnSpc>
                <a:spcPct val="110000"/>
              </a:lnSpc>
              <a:buNone/>
              <a:defRPr sz="3675" b="1">
                <a:solidFill>
                  <a:srgbClr val="192B25"/>
                </a:solidFill>
                <a:latin typeface="Helvetica Neue"/>
                <a:ea typeface="Helvetica Neue"/>
                <a:cs typeface="Helvetica Neue"/>
              </a:defRPr>
            </a:pPr>
            <a:r>
              <a:rPr sz="3675" b="1">
                <a:solidFill>
                  <a:srgbClr val="192B25"/>
                </a:solidFill>
                <a:latin typeface="Helvetica Neue"/>
                <a:ea typeface="Helvetica Neue"/>
                <a:cs typeface="Helvetica Neue"/>
              </a:rPr>
              <a:t>to people’s stories</a:t>
            </a:r>
          </a:p>
        </p:txBody>
      </p:sp>
      <p:sp>
        <p:nvSpPr>
          <p:cNvPr id="6" name="story-documentary">
            <a:extLst xmlns:a="http://schemas.openxmlformats.org/drawingml/2006/main">
              <a:ext uri="{FF2B5EF4-FFF2-40B4-BE49-F238E27FC236}">
                <a16:creationId xmlns:a16="http://schemas.microsoft.com/office/drawing/2014/main" id="{DA10119D-22FB-4ADB-A8C1-F0CC3463A42E}"/>
              </a:ext>
            </a:extLst>
          </p:cNvPr>
          <p:cNvSpPr>
            <a:spLocks xmlns:a="http://schemas.openxmlformats.org/drawingml/2006/main" noGrp="1"/>
          </p:cNvSpPr>
          <p:nvPr/>
        </p:nvSpPr>
        <p:spPr>
          <a:xfrm xmlns:a="http://schemas.openxmlformats.org/drawingml/2006/main">
            <a:off x="609600" y="3609975"/>
            <a:ext cx="56102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950" b="0">
                <a:solidFill>
                  <a:srgbClr val="192B25"/>
                </a:solidFill>
                <a:latin typeface="Helvetica Neue"/>
                <a:ea typeface="Helvetica Neue"/>
                <a:cs typeface="Helvetica Neue"/>
              </a:defRPr>
            </a:pPr>
            <a:r>
              <a:rPr sz="1950" b="0">
                <a:solidFill>
                  <a:srgbClr val="192B25"/>
                </a:solidFill>
                <a:latin typeface="Helvetica Neue"/>
                <a:ea typeface="Helvetica Neue"/>
                <a:cs typeface="Helvetica Neue"/>
              </a:rPr>
              <a:t>Documentary filmmaking taught me to listen closely and find the thread in a complicated story.</a:t>
            </a:r>
          </a:p>
        </p:txBody>
      </p:sp>
      <p:sp>
        <p:nvSpPr>
          <p:cNvPr id="7" name="story-now">
            <a:extLst xmlns:a="http://schemas.openxmlformats.org/drawingml/2006/main">
              <a:ext uri="{FF2B5EF4-FFF2-40B4-BE49-F238E27FC236}">
                <a16:creationId xmlns:a16="http://schemas.microsoft.com/office/drawing/2014/main" id="{1960B4BF-794C-42F4-9AD9-2014CDAAE56E}"/>
              </a:ext>
            </a:extLst>
          </p:cNvPr>
          <p:cNvSpPr>
            <a:spLocks xmlns:a="http://schemas.openxmlformats.org/drawingml/2006/main" noGrp="1"/>
          </p:cNvSpPr>
          <p:nvPr/>
        </p:nvSpPr>
        <p:spPr>
          <a:xfrm xmlns:a="http://schemas.openxmlformats.org/drawingml/2006/main">
            <a:off x="609600" y="5057775"/>
            <a:ext cx="5610225"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00" b="0">
                <a:solidFill>
                  <a:srgbClr val="58645D"/>
                </a:solidFill>
                <a:latin typeface="Helvetica Neue"/>
                <a:ea typeface="Helvetica Neue"/>
                <a:cs typeface="Helvetica Neue"/>
              </a:defRPr>
            </a:pPr>
            <a:r>
              <a:rPr sz="1800" b="0">
                <a:solidFill>
                  <a:srgbClr val="58645D"/>
                </a:solidFill>
                <a:latin typeface="Helvetica Neue"/>
                <a:ea typeface="Helvetica Neue"/>
                <a:cs typeface="Helvetica Neue"/>
              </a:rPr>
              <a:t>Those habits stayed with me in research and design. Outside work, I run tabletop games, where listening and helping a group find its way matter too.</a:t>
            </a:r>
          </a:p>
        </p:txBody>
      </p:sp>
      <p:sp>
        <p:nvSpPr>
          <p:cNvPr id="8" name="story-slide-number">
            <a:extLst xmlns:a="http://schemas.openxmlformats.org/drawingml/2006/main">
              <a:ext uri="{FF2B5EF4-FFF2-40B4-BE49-F238E27FC236}">
                <a16:creationId xmlns:a16="http://schemas.microsoft.com/office/drawing/2014/main" id="{DD69DACD-7448-4426-A4BB-0DDC7F3936FE}"/>
              </a:ext>
            </a:extLst>
          </p:cNvPr>
          <p:cNvSpPr>
            <a:spLocks xmlns:a="http://schemas.openxmlformats.org/drawingml/2006/main" noGrp="1"/>
          </p:cNvSpPr>
          <p:nvPr/>
        </p:nvSpPr>
        <p:spPr>
          <a:xfrm xmlns:a="http://schemas.openxmlformats.org/drawingml/2006/main">
            <a:off x="11353800" y="651510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09</a:t>
            </a:r>
          </a:p>
        </p:txBody>
      </p:sp>
    </p:spTree>
    <p:extLst>
      <p:ext uri="{BB962C8B-B14F-4D97-AF65-F5344CB8AC3E}">
        <p14:creationId xmlns:p14="http://schemas.microsoft.com/office/powerpoint/2010/main" val="853056310"/>
      </p:ext>
    </p:extLst>
  </p:cSld>
</p:sld>
</file>

<file path=ppt/slides/slide10.xml><?xml version="1.0" encoding="utf-8"?>
<p:sld xmlns:p="http://schemas.openxmlformats.org/presentationml/2006/main">
  <p:cSld>
    <p:bg>
      <p:bgPr>
        <a:solidFill xmlns:a="http://schemas.openxmlformats.org/drawingml/2006/main">
          <a:srgbClr val="244D3C"/>
        </a:solidFill>
      </p:bgPr>
    </p:bg>
    <p:spTree>
      <p:nvGrpSpPr>
        <p:cNvPr id="1" name=""/>
        <p:cNvGrpSpPr/>
        <p:nvPr/>
      </p:nvGrpSpPr>
      <p:grpSpPr>
        <a:xfrm xmlns:a="http://schemas.openxmlformats.org/drawingml/2006/main"/>
      </p:grpSpPr>
      <p:sp>
        <p:nvSpPr>
          <p:cNvPr id="7" name="slide-number">
            <a:extLst xmlns:a="http://schemas.openxmlformats.org/drawingml/2006/main">
              <a:ext uri="{FF2B5EF4-FFF2-40B4-BE49-F238E27FC236}">
                <a16:creationId xmlns:a16="http://schemas.microsoft.com/office/drawing/2014/main" id="{33DA02CC-7D93-4C40-8E3C-33CD347FD86B}"/>
              </a:ext>
            </a:extLst>
          </p:cNvPr>
          <p:cNvSpPr>
            <a:spLocks xmlns:a="http://schemas.openxmlformats.org/drawingml/2006/main" noGrp="1"/>
          </p:cNvSpPr>
          <p:nvPr/>
        </p:nvSpPr>
        <p:spPr>
          <a:xfrm xmlns:a="http://schemas.openxmlformats.org/drawingml/2006/main">
            <a:off x="11353800" y="651510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DBEB89"/>
                </a:solidFill>
                <a:latin typeface="Helvetica Neue"/>
                <a:ea typeface="Helvetica Neue"/>
                <a:cs typeface="Helvetica Neue"/>
              </a:defRPr>
            </a:pPr>
            <a:r>
              <a:rPr sz="1050" b="0">
                <a:solidFill>
                  <a:srgbClr val="DBEB89"/>
                </a:solidFill>
                <a:latin typeface="Helvetica Neue"/>
                <a:ea typeface="Helvetica Neue"/>
                <a:cs typeface="Helvetica Neue"/>
              </a:rPr>
              <a:t>10</a:t>
            </a:r>
          </a:p>
        </p:txBody>
      </p:sp>
      <p:sp>
        <p:nvSpPr>
          <p:cNvPr id="2" name="section-label">
            <a:extLst xmlns:a="http://schemas.openxmlformats.org/drawingml/2006/main">
              <a:ext uri="{FF2B5EF4-FFF2-40B4-BE49-F238E27FC236}">
                <a16:creationId xmlns:a16="http://schemas.microsoft.com/office/drawing/2014/main" id="{2B60DB53-B8D4-4417-B748-57850CB6C055}"/>
              </a:ext>
            </a:extLst>
          </p:cNvPr>
          <p:cNvSpPr>
            <a:spLocks xmlns:a="http://schemas.openxmlformats.org/drawingml/2006/main" noGrp="1"/>
          </p:cNvSpPr>
          <p:nvPr/>
        </p:nvSpPr>
        <p:spPr>
          <a:xfrm xmlns:a="http://schemas.openxmlformats.org/drawingml/2006/main">
            <a:off x="609600" y="523875"/>
            <a:ext cx="914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DBEB89"/>
                </a:solidFill>
                <a:latin typeface="Helvetica Neue"/>
                <a:ea typeface="Helvetica Neue"/>
                <a:cs typeface="Helvetica Neue"/>
              </a:defRPr>
            </a:pPr>
            <a:r>
              <a:rPr sz="1200" b="1">
                <a:solidFill>
                  <a:srgbClr val="DBEB89"/>
                </a:solidFill>
                <a:latin typeface="Helvetica Neue"/>
                <a:ea typeface="Helvetica Neue"/>
                <a:cs typeface="Helvetica Neue"/>
              </a:rPr>
              <a:t>KYLE HOBSON   /   UX DESIGN</a:t>
            </a:r>
          </a:p>
        </p:txBody>
      </p:sp>
      <p:sp>
        <p:nvSpPr>
          <p:cNvPr id="3" name="headline">
            <a:extLst xmlns:a="http://schemas.openxmlformats.org/drawingml/2006/main">
              <a:ext uri="{FF2B5EF4-FFF2-40B4-BE49-F238E27FC236}">
                <a16:creationId xmlns:a16="http://schemas.microsoft.com/office/drawing/2014/main" id="{21C6EA93-3006-41D2-B301-6986DEBA6298}"/>
              </a:ext>
            </a:extLst>
          </p:cNvPr>
          <p:cNvSpPr>
            <a:spLocks xmlns:a="http://schemas.openxmlformats.org/drawingml/2006/main" noGrp="1"/>
          </p:cNvSpPr>
          <p:nvPr/>
        </p:nvSpPr>
        <p:spPr>
          <a:xfrm xmlns:a="http://schemas.openxmlformats.org/drawingml/2006/main">
            <a:off x="609600" y="1666875"/>
            <a:ext cx="10315575" cy="1866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4800" b="1">
                <a:solidFill>
                  <a:srgbClr val="F4F2E9"/>
                </a:solidFill>
                <a:latin typeface="Helvetica Neue"/>
                <a:ea typeface="Helvetica Neue"/>
                <a:cs typeface="Helvetica Neue"/>
              </a:defRPr>
            </a:pPr>
            <a:r>
              <a:rPr sz="4800" b="1">
                <a:solidFill>
                  <a:srgbClr val="F4F2E9"/>
                </a:solidFill>
                <a:latin typeface="Helvetica Neue"/>
                <a:ea typeface="Helvetica Neue"/>
                <a:cs typeface="Helvetica Neue"/>
              </a:rPr>
              <a:t>Let’s make the</a:t>
            </a:r>
          </a:p>
          <a:p xmlns:a="http://schemas.openxmlformats.org/drawingml/2006/main">
            <a:pPr>
              <a:lnSpc>
                <a:spcPct val="110000"/>
              </a:lnSpc>
              <a:buNone/>
              <a:defRPr sz="4800" b="1">
                <a:solidFill>
                  <a:srgbClr val="F4F2E9"/>
                </a:solidFill>
                <a:latin typeface="Helvetica Neue"/>
                <a:ea typeface="Helvetica Neue"/>
                <a:cs typeface="Helvetica Neue"/>
              </a:defRPr>
            </a:pPr>
            <a:r>
              <a:rPr sz="4800" b="1">
                <a:solidFill>
                  <a:srgbClr val="F4F2E9"/>
                </a:solidFill>
                <a:latin typeface="Helvetica Neue"/>
                <a:ea typeface="Helvetica Neue"/>
                <a:cs typeface="Helvetica Neue"/>
              </a:rPr>
              <a:t>next step clearer</a:t>
            </a:r>
          </a:p>
        </p:txBody>
      </p:sp>
      <p:sp>
        <p:nvSpPr>
          <p:cNvPr id="4" name="contact-intent">
            <a:extLst xmlns:a="http://schemas.openxmlformats.org/drawingml/2006/main">
              <a:ext uri="{FF2B5EF4-FFF2-40B4-BE49-F238E27FC236}">
                <a16:creationId xmlns:a16="http://schemas.microsoft.com/office/drawing/2014/main" id="{A7B82F83-C224-4802-814B-1CF06E64E1DF}"/>
              </a:ext>
            </a:extLst>
          </p:cNvPr>
          <p:cNvSpPr>
            <a:spLocks xmlns:a="http://schemas.openxmlformats.org/drawingml/2006/main" noGrp="1"/>
          </p:cNvSpPr>
          <p:nvPr/>
        </p:nvSpPr>
        <p:spPr>
          <a:xfrm xmlns:a="http://schemas.openxmlformats.org/drawingml/2006/main">
            <a:off x="647700" y="3857625"/>
            <a:ext cx="9839325"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025" b="0">
                <a:solidFill>
                  <a:srgbClr val="F4F2E9"/>
                </a:solidFill>
                <a:latin typeface="Helvetica Neue"/>
                <a:ea typeface="Helvetica Neue"/>
                <a:cs typeface="Helvetica Neue"/>
              </a:defRPr>
            </a:pPr>
            <a:r>
              <a:rPr sz="2025" b="0">
                <a:solidFill>
                  <a:srgbClr val="F4F2E9"/>
                </a:solidFill>
                <a:latin typeface="Helvetica Neue"/>
                <a:ea typeface="Helvetica Neue"/>
                <a:cs typeface="Helvetica Neue"/>
              </a:rPr>
              <a:t>For product and UX design roles, contract projects, and collaborations.</a:t>
            </a:r>
          </a:p>
        </p:txBody>
      </p:sp>
      <p:sp>
        <p:nvSpPr>
          <p:cNvPr id="5" name="email">
            <a:extLst xmlns:a="http://schemas.openxmlformats.org/drawingml/2006/main">
              <a:ext uri="{FF2B5EF4-FFF2-40B4-BE49-F238E27FC236}">
                <a16:creationId xmlns:a16="http://schemas.microsoft.com/office/drawing/2014/main" id="{3F2E2C04-D732-46C4-AB44-C693BCD7222B}"/>
              </a:ext>
            </a:extLst>
          </p:cNvPr>
          <p:cNvSpPr>
            <a:spLocks xmlns:a="http://schemas.openxmlformats.org/drawingml/2006/main" noGrp="1"/>
          </p:cNvSpPr>
          <p:nvPr/>
        </p:nvSpPr>
        <p:spPr>
          <a:xfrm xmlns:a="http://schemas.openxmlformats.org/drawingml/2006/main">
            <a:off x="647700" y="5057775"/>
            <a:ext cx="10191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75" b="0" u="sng">
                <a:solidFill>
                  <a:srgbClr val="DBEB89"/>
                </a:solidFill>
                <a:latin typeface="Helvetica Neue"/>
                <a:ea typeface="Helvetica Neue"/>
                <a:cs typeface="Helvetica Neue"/>
              </a:defRPr>
            </a:pPr>
            <a:r>
              <a:rPr sz="1875" b="0" u="sng">
                <a:solidFill>
                  <a:srgbClr val="DBEB89"/>
                </a:solidFill>
                <a:latin typeface="Helvetica Neue"/>
                <a:ea typeface="Helvetica Neue"/>
                <a:cs typeface="Helvetica Neue"/>
                <a:hlinkClick xmlns:r="http://schemas.openxmlformats.org/officeDocument/2006/relationships" r:id="Rbec667ab4ce3484e"/>
              </a:rPr>
              <a:t>JonathanKyleHobson@gmail.com</a:t>
            </a:r>
          </a:p>
        </p:txBody>
      </p:sp>
      <p:sp>
        <p:nvSpPr>
          <p:cNvPr id="6" name="public-profile">
            <a:extLst xmlns:a="http://schemas.openxmlformats.org/drawingml/2006/main">
              <a:ext uri="{FF2B5EF4-FFF2-40B4-BE49-F238E27FC236}">
                <a16:creationId xmlns:a16="http://schemas.microsoft.com/office/drawing/2014/main" id="{E49186DC-4498-4C42-A16C-B5F9BF4691BA}"/>
              </a:ext>
            </a:extLst>
          </p:cNvPr>
          <p:cNvSpPr>
            <a:spLocks xmlns:a="http://schemas.openxmlformats.org/drawingml/2006/main" noGrp="1"/>
          </p:cNvSpPr>
          <p:nvPr/>
        </p:nvSpPr>
        <p:spPr>
          <a:xfrm xmlns:a="http://schemas.openxmlformats.org/drawingml/2006/main">
            <a:off x="647700" y="5705475"/>
            <a:ext cx="1028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725" b="0" u="sng">
                <a:solidFill>
                  <a:srgbClr val="F4F2E9"/>
                </a:solidFill>
                <a:latin typeface="Helvetica Neue"/>
                <a:ea typeface="Helvetica Neue"/>
                <a:cs typeface="Helvetica Neue"/>
              </a:defRPr>
            </a:pPr>
            <a:r>
              <a:rPr sz="1725" b="0" u="sng">
                <a:solidFill>
                  <a:srgbClr val="F4F2E9"/>
                </a:solidFill>
                <a:latin typeface="Helvetica Neue"/>
                <a:ea typeface="Helvetica Neue"/>
                <a:cs typeface="Helvetica Neue"/>
                <a:hlinkClick xmlns:r="http://schemas.openxmlformats.org/officeDocument/2006/relationships" r:id="Rc99a5a53ca064438"/>
              </a:rPr>
              <a:t>jonathankhobson.github.io/portfolio/design</a:t>
            </a:r>
          </a:p>
        </p:txBody>
      </p:sp>
    </p:spTree>
    <p:extLst>
      <p:ext uri="{BB962C8B-B14F-4D97-AF65-F5344CB8AC3E}">
        <p14:creationId xmlns:p14="http://schemas.microsoft.com/office/powerpoint/2010/main" val="812961590"/>
      </p:ext>
    </p:extLst>
  </p:cSld>
</p:sld>
</file>

<file path=ppt/theme/theme1.xml><?xml version="1.0" encoding="utf-8"?>
<a:theme xmlns:a="http://schemas.openxmlformats.org/drawingml/2006/main" name="ChatGPT">
  <a:themeElements>
    <a:clrScheme name="Kyle Portfolio">
      <a:dk1>
        <a:srgbClr val="192B25"/>
      </a:dk1>
      <a:lt1>
        <a:srgbClr val="FFFFFF"/>
      </a:lt1>
      <a:dk2>
        <a:srgbClr val="244D3C"/>
      </a:dk2>
      <a:lt2>
        <a:srgbClr val="F4F2E9"/>
      </a:lt2>
      <a:accent1>
        <a:srgbClr val="244D3C"/>
      </a:accent1>
      <a:accent2>
        <a:srgbClr val="DBEB89"/>
      </a:accent2>
      <a:accent3>
        <a:srgbClr val="E1E8DB"/>
      </a:accent3>
      <a:accent4>
        <a:srgbClr val="58645D"/>
      </a:accent4>
      <a:accent5>
        <a:srgbClr val="192B25"/>
      </a:accent5>
      <a:accent6>
        <a:srgbClr val="F4F2E9"/>
      </a:accent6>
      <a:hlink>
        <a:srgbClr val="DBEB89"/>
      </a:hlink>
      <a:folHlink>
        <a:srgbClr val="DBEB89"/>
      </a:folHlink>
    </a:clrScheme>
    <a:fontScheme name="Office">
      <a:majorFont>
        <a:latin typeface="Calibri Light"/>
        <a:ea typeface="Calibri Light"/>
        <a:cs typeface="Calibri Light"/>
      </a:majorFont>
      <a:minorFont>
        <a:latin typeface="Calibri"/>
        <a:ea typeface="Calibri"/>
        <a:cs typeface="Calibri"/>
      </a:minorFont>
    </a:fontScheme>
    <a:fmtScheme name="Kyle Portfolio">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2026-09-08T15:10:52.0910000Z</dcterms:created>
  <dcterms:modified xsi:type="dcterms:W3CDTF">2026-09-08T15:10:52.0910000Z</dcterms:modified>
</coreProperties>
</file>