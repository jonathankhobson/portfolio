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0f4da97eb74558" /><Relationship Type="http://schemas.openxmlformats.org/officeDocument/2006/relationships/extended-properties" Target="/docProps/app.xml" Id="Rca29bd641f994de8" /><Relationship Type="http://schemas.openxmlformats.org/officeDocument/2006/relationships/officeDocument" Target="/ppt/presentation.xml" Id="R29a71aa7e1874b94" /></Relationships>
</file>

<file path=ppt/presentation.xml><?xml version="1.0" encoding="utf-8"?>
<p:presentation xmlns:p="http://schemas.openxmlformats.org/presentationml/2006/main">
  <p:sldMasterIdLst>
    <p:sldMasterId xmlns:r="http://schemas.openxmlformats.org/officeDocument/2006/relationships" id="2147483648" r:id="R79f0d73102aa41b2"/>
  </p:sldMasterIdLst>
  <p:notesMasterIdLst>
    <p:notesMasterId xmlns:r="http://schemas.openxmlformats.org/officeDocument/2006/relationships" r:id="R84baf6d247254f23"/>
  </p:notesMasterIdLst>
  <p:sldIdLst>
    <p:sldId xmlns:r="http://schemas.openxmlformats.org/officeDocument/2006/relationships" id="256" r:id="R4efa74b12f474da2"/>
    <p:sldId xmlns:r="http://schemas.openxmlformats.org/officeDocument/2006/relationships" id="257" r:id="R050da16364954fe2"/>
    <p:sldId xmlns:r="http://schemas.openxmlformats.org/officeDocument/2006/relationships" id="258" r:id="Re4904e3ed62c4d45"/>
    <p:sldId xmlns:r="http://schemas.openxmlformats.org/officeDocument/2006/relationships" id="259" r:id="R80908d3b6d654cef"/>
    <p:sldId xmlns:r="http://schemas.openxmlformats.org/officeDocument/2006/relationships" id="260" r:id="R1657ad01f67b443d"/>
    <p:sldId xmlns:r="http://schemas.openxmlformats.org/officeDocument/2006/relationships" id="261" r:id="Rb51362207b4943c8"/>
    <p:sldId xmlns:r="http://schemas.openxmlformats.org/officeDocument/2006/relationships" id="262" r:id="R72ff799b85574134"/>
    <p:sldId xmlns:r="http://schemas.openxmlformats.org/officeDocument/2006/relationships" id="263" r:id="R87030004ced44d00"/>
    <p:sldId xmlns:r="http://schemas.openxmlformats.org/officeDocument/2006/relationships" id="264" r:id="Rb47af1f17a7f4b4d"/>
    <p:sldId xmlns:r="http://schemas.openxmlformats.org/officeDocument/2006/relationships" id="265" r:id="R101852f7d6a241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3c5565ec7d848f5" /><Relationship Type="http://schemas.openxmlformats.org/officeDocument/2006/relationships/slideMaster" Target="/ppt/slideMasters/slideMaster1.xml" Id="R79f0d73102aa41b2" /><Relationship Type="http://schemas.openxmlformats.org/officeDocument/2006/relationships/notesMaster" Target="/ppt/notesMasters/notesMaster1.xml" Id="R84baf6d247254f23" /><Relationship Type="http://schemas.openxmlformats.org/officeDocument/2006/relationships/presProps" Target="/ppt/presProps.xml" Id="R9cad95d7ac6d4b86" /><Relationship Type="http://schemas.openxmlformats.org/officeDocument/2006/relationships/tableStyles" Target="/ppt/tableStyles.xml" Id="R908c9b534193453f" /><Relationship Type="http://schemas.openxmlformats.org/officeDocument/2006/relationships/slide" Target="/ppt/slides/slide1.xml" Id="R4efa74b12f474da2" /><Relationship Type="http://schemas.openxmlformats.org/officeDocument/2006/relationships/slide" Target="/ppt/slides/slide2.xml" Id="R050da16364954fe2" /><Relationship Type="http://schemas.openxmlformats.org/officeDocument/2006/relationships/slide" Target="/ppt/slides/slide3.xml" Id="Re4904e3ed62c4d45" /><Relationship Type="http://schemas.openxmlformats.org/officeDocument/2006/relationships/slide" Target="/ppt/slides/slide4.xml" Id="R80908d3b6d654cef" /><Relationship Type="http://schemas.openxmlformats.org/officeDocument/2006/relationships/slide" Target="/ppt/slides/slide5.xml" Id="R1657ad01f67b443d" /><Relationship Type="http://schemas.openxmlformats.org/officeDocument/2006/relationships/slide" Target="/ppt/slides/slide6.xml" Id="Rb51362207b4943c8" /><Relationship Type="http://schemas.openxmlformats.org/officeDocument/2006/relationships/slide" Target="/ppt/slides/slide7.xml" Id="R72ff799b85574134" /><Relationship Type="http://schemas.openxmlformats.org/officeDocument/2006/relationships/slide" Target="/ppt/slides/slide8.xml" Id="R87030004ced44d00" /><Relationship Type="http://schemas.openxmlformats.org/officeDocument/2006/relationships/slide" Target="/ppt/slides/slide9.xml" Id="Rb47af1f17a7f4b4d" /><Relationship Type="http://schemas.openxmlformats.org/officeDocument/2006/relationships/slide" Target="/ppt/slides/slide10.xml" Id="R101852f7d6a241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c281f57f3149d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1b5ad79ffb4b1f" /><Relationship Type="http://schemas.openxmlformats.org/officeDocument/2006/relationships/notesMaster" Target="/ppt/notesMasters/notesMaster1.xml" Id="Re4efdcdc720e48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3923b8e6e54191" /><Relationship Type="http://schemas.openxmlformats.org/officeDocument/2006/relationships/notesMaster" Target="/ppt/notesMasters/notesMaster1.xml" Id="R1c657463a78742b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18d5ad34e3e44d7" /><Relationship Type="http://schemas.openxmlformats.org/officeDocument/2006/relationships/notesMaster" Target="/ppt/notesMasters/notesMaster1.xml" Id="R5619f1dbb7904d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d6d068b7174152" /><Relationship Type="http://schemas.openxmlformats.org/officeDocument/2006/relationships/notesMaster" Target="/ppt/notesMasters/notesMaster1.xml" Id="R02f1ebe4e5ef48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d93ab83f7d4ca9" /><Relationship Type="http://schemas.openxmlformats.org/officeDocument/2006/relationships/notesMaster" Target="/ppt/notesMasters/notesMaster1.xml" Id="Rce85710bf13a48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e04ccfda2c4ac8" /><Relationship Type="http://schemas.openxmlformats.org/officeDocument/2006/relationships/notesMaster" Target="/ppt/notesMasters/notesMaster1.xml" Id="Re0e5674832ab445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e73c22c42794b21" /><Relationship Type="http://schemas.openxmlformats.org/officeDocument/2006/relationships/notesMaster" Target="/ppt/notesMasters/notesMaster1.xml" Id="R375b1636610d42ff" /></Relationships>
</file>

<file path=ppt/notesSlides/_rels/notesSlide8.xml.rels>&#65279;<?xml version="1.0" encoding="utf-8"?><Relationships xmlns="http://schemas.openxmlformats.org/package/2006/relationships"><Relationship Type="http://schemas.openxmlformats.org/officeDocument/2006/relationships/slide" Target="/ppt/slides/slide8.xml" Id="Rd011ed68195c4922" /><Relationship Type="http://schemas.openxmlformats.org/officeDocument/2006/relationships/notesMaster" Target="/ppt/notesMasters/notesMaster1.xml" Id="Rddb1f05b8d1d4ff6" /></Relationships>
</file>

<file path=ppt/notesSlides/_rels/notesSlide9.xml.rels>&#65279;<?xml version="1.0" encoding="utf-8"?><Relationships xmlns="http://schemas.openxmlformats.org/package/2006/relationships"><Relationship Type="http://schemas.openxmlformats.org/officeDocument/2006/relationships/slide" Target="/ppt/slides/slide9.xml" Id="R887620fa10364362" /><Relationship Type="http://schemas.openxmlformats.org/officeDocument/2006/relationships/notesMaster" Target="/ppt/notesMasters/notesMaster1.xml" Id="Re895fa115ced4f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874770cda59462f" /><Relationship Type="http://schemas.openxmlformats.org/officeDocument/2006/relationships/notesMaster" Target="/ppt/notesMasters/notesMaster1.xml" Id="R2989c3c8e41843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Hobson, UX Designer. Source: selected original SmartTagIt Flint design export. Interface content and values are illustrative design content. The deck discusses design deliverables, handoff and proposed iterations, with work stage stated at each case 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Flint, SmartTagIt at FactorLab. Kyle: UX Designer &amp; Researcher (Contract), 2025–2026. Source: original embedded screenshots from factorlab-slides-v1-2, page 4, visually compared with the current Google Slides source. The older interface uses an empty question field and category controls. My revised design shows concrete suggested questions and an example filled into the input for review or editing. The broader question library remains available. This comparison shows a design decision, not a measured gain or proof of the released navigation layout. The companion mobile entry remains in the website case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Flint response-in-progress mobile export and design walkthrough. The inset enlarges an unchanged region of the same source image. Kyle explored the waiting treatment alongside the conversation and discussed animation constraints with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selected original Flint interrupted-response and offline design variants, including the March 27, 2026 error-state handoff. Distinct recovery actions follow the state: Ask again or Continue for a partial response, and retry after connection loss with the question preserved. Deliverable: connected flows, interaction states and engineering annotations. An August 3, 2026 engineering reply reports Ask a Question error states implemented to approved Figma; AI Assist still used older patterns. This is an implementation report, not independent behavior testing or a measured recovery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About Me, SmartTagIt at FactorLab. Kyle: UX Designer &amp; Researcher (Contract), 2026. Source: original About Me Figma direction and April–May 2026 walkthroughs. The displayed crop retains original sample content. A September 2, 2026 engineering update confirms the About Me web/server release. These images document design iterations rather than the exact released layout.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About Me Topic Comparison widget and stakeholder design discussions. Values are illustrative design content, not research outcomes. Kyle advocated neutral feedback and made cohort definition and interpretation questions explicit. The case output was a family of insight layouts and concrete product questions for alignment.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AI. Kyle: Lead UX Researcher, 2023–2025. Source: original Oak navigation evaluation screenshot, with the identity area omitted. Training the assistant, starting Vibecheck and requesting support appear as competing entry points. Kyle documented the labels and visual treatments and used the audit to make these choices explicit for review. Work stage: usability evaluation and design recommendations. This slide does not present a finished navigation redesign or a user-study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original Oak desktop evaluation and error-messaging recommendation artifact. The shown crops retain original interface pixels and exclude the identity-bearing example field. Original and Proposed labels distinguish the existing interface from the recommendation. The evaluation identified error feedback that did not explain recovery, and the recommendation made a specific correction visible near the password field. This is a recommendation, not a measured usability improvement or a claim that the exact variant shipped.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Personal story is based on Kyle’s self-described documentary filmmaking, digital storytelling and game facilitation background. It is an editorial connection, not a measured business-outcome claim. The portrait is a user-supplied personal image, used for identity rather than as project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product and UX design roles, contract projects and professional collaborations. The displayed contact links are clickable.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148073702c146b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44236f57254626" /><Relationship Type="http://schemas.openxmlformats.org/officeDocument/2006/relationships/slideLayout" Target="/ppt/slideLayouts/slideLayout1.xml" Id="R8eca8c93d6bf405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ca8c93d6bf405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0224f9f331e4aaf" /><Relationship Type="http://schemas.openxmlformats.org/officeDocument/2006/relationships/image" Target="/ppt/media/image.png" Id="R3c2af871e8834d0f" /><Relationship Type="http://schemas.openxmlformats.org/officeDocument/2006/relationships/notesSlide" Target="/ppt/notesSlides/notesSlide1.xml" Id="Re49a0797b27e4e3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36a574cd0fb4cd6" /><Relationship Type="http://schemas.openxmlformats.org/officeDocument/2006/relationships/image" Target="/ppt/media/image.jpeg" Id="Rb866d6fd68944576" /><Relationship Type="http://schemas.openxmlformats.org/officeDocument/2006/relationships/image" Target="/ppt/media/image2.jpeg" Id="R993bfc2651d44369" /><Relationship Type="http://schemas.openxmlformats.org/officeDocument/2006/relationships/notesSlide" Target="/ppt/notesSlides/notesSlide2.xml" Id="R42a2c9d43039401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5f17beb2a124878" /><Relationship Type="http://schemas.openxmlformats.org/officeDocument/2006/relationships/image" Target="/ppt/media/image2.png" Id="R1d3d1ff870a04e19" /><Relationship Type="http://schemas.openxmlformats.org/officeDocument/2006/relationships/image" Target="/ppt/media/image3.png" Id="R2dbcead31a7b4e65" /><Relationship Type="http://schemas.openxmlformats.org/officeDocument/2006/relationships/notesSlide" Target="/ppt/notesSlides/notesSlide3.xml" Id="Rba0a2f20f2b648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72663eecd3449bf" /><Relationship Type="http://schemas.openxmlformats.org/officeDocument/2006/relationships/image" Target="/ppt/media/image4.png" Id="R4ff1bdb718c24156" /><Relationship Type="http://schemas.openxmlformats.org/officeDocument/2006/relationships/image" Target="/ppt/media/image5.png" Id="R0bf5710226524da7" /><Relationship Type="http://schemas.openxmlformats.org/officeDocument/2006/relationships/notesSlide" Target="/ppt/notesSlides/notesSlide4.xml" Id="Rda3fea34c32849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5960db220cf4f47" /><Relationship Type="http://schemas.openxmlformats.org/officeDocument/2006/relationships/image" Target="/ppt/media/image6.png" Id="R865bec4aa85444ba" /><Relationship Type="http://schemas.openxmlformats.org/officeDocument/2006/relationships/notesSlide" Target="/ppt/notesSlides/notesSlide5.xml" Id="R6b01bfe7ba0847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6c83583f3464c2c" /><Relationship Type="http://schemas.openxmlformats.org/officeDocument/2006/relationships/image" Target="/ppt/media/image7.png" Id="R51ce47b009584793" /><Relationship Type="http://schemas.openxmlformats.org/officeDocument/2006/relationships/notesSlide" Target="/ppt/notesSlides/notesSlide6.xml" Id="R5278ec61ec0b482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91446522724a5d" /><Relationship Type="http://schemas.openxmlformats.org/officeDocument/2006/relationships/image" Target="/ppt/media/image8.png" Id="R4779103d0a2a4be1" /><Relationship Type="http://schemas.openxmlformats.org/officeDocument/2006/relationships/notesSlide" Target="/ppt/notesSlides/notesSlide7.xml" Id="R42b7306009d34e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35d81bdb9c94270" /><Relationship Type="http://schemas.openxmlformats.org/officeDocument/2006/relationships/image" Target="/ppt/media/image9.png" Id="R8bf3b30dd7f34c65" /><Relationship Type="http://schemas.openxmlformats.org/officeDocument/2006/relationships/image" Target="/ppt/media/image10.png" Id="Rc33d956caf3f40bb" /><Relationship Type="http://schemas.openxmlformats.org/officeDocument/2006/relationships/image" Target="/ppt/media/image11.png" Id="Rffef72d5159443a2" /><Relationship Type="http://schemas.openxmlformats.org/officeDocument/2006/relationships/notesSlide" Target="/ppt/notesSlides/notesSlide8.xml" Id="R66b022a2f11046e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ac213155e014e61" /><Relationship Type="http://schemas.openxmlformats.org/officeDocument/2006/relationships/image" Target="/ppt/media/image3.jpeg" Id="R6eb0e09ddffa4fa6" /><Relationship Type="http://schemas.openxmlformats.org/officeDocument/2006/relationships/notesSlide" Target="/ppt/notesSlides/notesSlide9.xml" Id="Re59143ce139d48f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9f06d6fef384861" /><Relationship Type="http://schemas.openxmlformats.org/officeDocument/2006/relationships/hyperlink" Target="mailto:JonathanKyleHobson@gmail.com" TargetMode="External" Id="R745909748ce1472f" /><Relationship Type="http://schemas.openxmlformats.org/officeDocument/2006/relationships/hyperlink" Target="https://jonathankhobson.github.io/portfolio/design/" TargetMode="External" Id="R3ed980b11bfd471b" /><Relationship Type="http://schemas.openxmlformats.org/officeDocument/2006/relationships/notesSlide" Target="/ppt/notesSlides/notesSlide10.xml" Id="R043d619f41f2417e" /></Relationships>
</file>

<file path=ppt/slides/slide1.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1F0BBC27-41BF-4C4E-AAEE-C881D3369ABB}"/>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01</a:t>
            </a:r>
          </a:p>
        </p:txBody>
      </p:sp>
      <p:sp>
        <p:nvSpPr>
          <p:cNvPr id="2" name="section-label">
            <a:extLst xmlns:a="http://schemas.openxmlformats.org/drawingml/2006/main">
              <a:ext uri="{FF2B5EF4-FFF2-40B4-BE49-F238E27FC236}">
                <a16:creationId xmlns:a16="http://schemas.microsoft.com/office/drawing/2014/main" id="{7D114A45-0CDF-4244-B28F-F8E0531F458D}"/>
              </a:ext>
            </a:extLst>
          </p:cNvPr>
          <p:cNvSpPr>
            <a:spLocks xmlns:a="http://schemas.openxmlformats.org/drawingml/2006/main" noGrp="1"/>
          </p:cNvSpPr>
          <p:nvPr/>
        </p:nvSpPr>
        <p:spPr>
          <a:xfrm xmlns:a="http://schemas.openxmlformats.org/drawingml/2006/main">
            <a:off x="609600" y="5143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UX DESIGN</a:t>
            </a:r>
          </a:p>
        </p:txBody>
      </p:sp>
      <p:sp>
        <p:nvSpPr>
          <p:cNvPr id="3" name="headline">
            <a:extLst xmlns:a="http://schemas.openxmlformats.org/drawingml/2006/main">
              <a:ext uri="{FF2B5EF4-FFF2-40B4-BE49-F238E27FC236}">
                <a16:creationId xmlns:a16="http://schemas.microsoft.com/office/drawing/2014/main" id="{B3D70E00-07C9-421D-9BC7-5981ACD0B420}"/>
              </a:ext>
            </a:extLst>
          </p:cNvPr>
          <p:cNvSpPr>
            <a:spLocks xmlns:a="http://schemas.openxmlformats.org/drawingml/2006/main" noGrp="1"/>
          </p:cNvSpPr>
          <p:nvPr/>
        </p:nvSpPr>
        <p:spPr>
          <a:xfrm xmlns:a="http://schemas.openxmlformats.org/drawingml/2006/main">
            <a:off x="609600" y="1924050"/>
            <a:ext cx="73342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5100" b="1">
                <a:solidFill>
                  <a:srgbClr val="F4F2E9"/>
                </a:solidFill>
                <a:latin typeface="Helvetica Neue"/>
                <a:ea typeface="Helvetica Neue"/>
                <a:cs typeface="Helvetica Neue"/>
              </a:defRPr>
            </a:pPr>
            <a:r>
              <a:rPr sz="5100" b="1">
                <a:solidFill>
                  <a:srgbClr val="F4F2E9"/>
                </a:solidFill>
                <a:latin typeface="Helvetica Neue"/>
                <a:ea typeface="Helvetica Neue"/>
                <a:cs typeface="Helvetica Neue"/>
              </a:rPr>
              <a:t>Complex products.</a:t>
            </a:r>
          </a:p>
          <a:p xmlns:a="http://schemas.openxmlformats.org/drawingml/2006/main">
            <a:pPr>
              <a:lnSpc>
                <a:spcPct val="110000"/>
              </a:lnSpc>
              <a:buNone/>
              <a:defRPr sz="5100" b="1">
                <a:solidFill>
                  <a:srgbClr val="F4F2E9"/>
                </a:solidFill>
                <a:latin typeface="Helvetica Neue"/>
                <a:ea typeface="Helvetica Neue"/>
                <a:cs typeface="Helvetica Neue"/>
              </a:defRPr>
            </a:pPr>
            <a:r>
              <a:rPr sz="5100" b="1">
                <a:solidFill>
                  <a:srgbClr val="F4F2E9"/>
                </a:solidFill>
                <a:latin typeface="Helvetica Neue"/>
                <a:ea typeface="Helvetica Neue"/>
                <a:cs typeface="Helvetica Neue"/>
              </a:rPr>
              <a:t>Clear next steps.</a:t>
            </a:r>
          </a:p>
        </p:txBody>
      </p:sp>
      <p:sp>
        <p:nvSpPr>
          <p:cNvPr id="4" name="cover-intro">
            <a:extLst xmlns:a="http://schemas.openxmlformats.org/drawingml/2006/main">
              <a:ext uri="{FF2B5EF4-FFF2-40B4-BE49-F238E27FC236}">
                <a16:creationId xmlns:a16="http://schemas.microsoft.com/office/drawing/2014/main" id="{A1BC3561-98DE-43CA-BADD-997C6BF97F76}"/>
              </a:ext>
            </a:extLst>
          </p:cNvPr>
          <p:cNvSpPr>
            <a:spLocks xmlns:a="http://schemas.openxmlformats.org/drawingml/2006/main" noGrp="1"/>
          </p:cNvSpPr>
          <p:nvPr/>
        </p:nvSpPr>
        <p:spPr>
          <a:xfrm xmlns:a="http://schemas.openxmlformats.org/drawingml/2006/main">
            <a:off x="647700" y="4324350"/>
            <a:ext cx="676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0">
                <a:solidFill>
                  <a:srgbClr val="F4F2E9"/>
                </a:solidFill>
                <a:latin typeface="Helvetica Neue"/>
                <a:ea typeface="Helvetica Neue"/>
                <a:cs typeface="Helvetica Neue"/>
              </a:defRPr>
            </a:pPr>
            <a:r>
              <a:rPr sz="2100" b="0">
                <a:solidFill>
                  <a:srgbClr val="F4F2E9"/>
                </a:solidFill>
                <a:latin typeface="Helvetica Neue"/>
                <a:ea typeface="Helvetica Neue"/>
                <a:cs typeface="Helvetica Neue"/>
              </a:rPr>
              <a:t>I make AI and information-rich products</a:t>
            </a:r>
          </a:p>
          <a:p xmlns:a="http://schemas.openxmlformats.org/drawingml/2006/main">
            <a:pPr>
              <a:lnSpc>
                <a:spcPct val="110000"/>
              </a:lnSpc>
              <a:buNone/>
              <a:defRPr sz="2100" b="0">
                <a:solidFill>
                  <a:srgbClr val="F4F2E9"/>
                </a:solidFill>
                <a:latin typeface="Helvetica Neue"/>
                <a:ea typeface="Helvetica Neue"/>
                <a:cs typeface="Helvetica Neue"/>
              </a:defRPr>
            </a:pPr>
            <a:r>
              <a:rPr sz="2100" b="0">
                <a:solidFill>
                  <a:srgbClr val="F4F2E9"/>
                </a:solidFill>
                <a:latin typeface="Helvetica Neue"/>
                <a:ea typeface="Helvetica Neue"/>
                <a:cs typeface="Helvetica Neue"/>
              </a:rPr>
              <a:t>easier to understand.</a:t>
            </a:r>
          </a:p>
        </p:txBody>
      </p:sp>
      <p:sp>
        <p:nvSpPr>
          <p:cNvPr id="5" name="cover-accent">
            <a:extLst xmlns:a="http://schemas.openxmlformats.org/drawingml/2006/main">
              <a:ext uri="{FF2B5EF4-FFF2-40B4-BE49-F238E27FC236}">
                <a16:creationId xmlns:a16="http://schemas.microsoft.com/office/drawing/2014/main" id="{35F3D71A-E65A-467A-9EBD-C80044F5BB3F}"/>
              </a:ext>
            </a:extLst>
          </p:cNvPr>
          <p:cNvSpPr>
            <a:spLocks xmlns:a="http://schemas.openxmlformats.org/drawingml/2006/main" noGrp="1"/>
          </p:cNvSpPr>
          <p:nvPr/>
        </p:nvSpPr>
        <p:spPr>
          <a:xfrm xmlns:a="http://schemas.openxmlformats.org/drawingml/2006/main">
            <a:off x="647700" y="5838825"/>
            <a:ext cx="647700" cy="47625"/>
          </a:xfrm>
          <a:prstGeom xmlns:a="http://schemas.openxmlformats.org/drawingml/2006/main" prst="rect">
            <a:avLst/>
          </a:prstGeom>
          <a:solidFill xmlns:a="http://schemas.openxmlformats.org/drawingml/2006/main">
            <a:srgbClr val="DBEB89"/>
          </a:solidFill>
          <a:ln xmlns:a="http://schemas.openxmlformats.org/drawingml/2006/main" w="0">
            <a:noFill/>
          </a:ln>
        </p:spPr>
      </p:sp>
      <p:sp>
        <p:nvSpPr>
          <p:cNvPr id="6" name="cover-type">
            <a:extLst xmlns:a="http://schemas.openxmlformats.org/drawingml/2006/main">
              <a:ext uri="{FF2B5EF4-FFF2-40B4-BE49-F238E27FC236}">
                <a16:creationId xmlns:a16="http://schemas.microsoft.com/office/drawing/2014/main" id="{7CC9DA3F-0F38-40AA-985C-7B15108C99A6}"/>
              </a:ext>
            </a:extLst>
          </p:cNvPr>
          <p:cNvSpPr>
            <a:spLocks xmlns:a="http://schemas.openxmlformats.org/drawingml/2006/main" noGrp="1"/>
          </p:cNvSpPr>
          <p:nvPr/>
        </p:nvSpPr>
        <p:spPr>
          <a:xfrm xmlns:a="http://schemas.openxmlformats.org/drawingml/2006/main">
            <a:off x="647700" y="6134100"/>
            <a:ext cx="657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F4F2E9"/>
                </a:solidFill>
                <a:latin typeface="Helvetica Neue"/>
                <a:ea typeface="Helvetica Neue"/>
                <a:cs typeface="Helvetica Neue"/>
              </a:defRPr>
            </a:pPr>
            <a:r>
              <a:rPr sz="1350" b="0">
                <a:solidFill>
                  <a:srgbClr val="F4F2E9"/>
                </a:solidFill>
                <a:latin typeface="Helvetica Neue"/>
                <a:ea typeface="Helvetica Neue"/>
                <a:cs typeface="Helvetica Neue"/>
              </a:rPr>
              <a:t>Selected design work, 2023–2026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c2af871e8834d0f"/>
          <a:stretch xmlns:a="http://schemas.openxmlformats.org/drawingml/2006/main"/>
        </p:blipFill>
        <p:spPr>
          <a:xfrm xmlns:a="http://schemas.openxmlformats.org/drawingml/2006/main">
            <a:off x="8859637" y="533400"/>
            <a:ext cx="2578502" cy="5524500"/>
          </a:xfrm>
          <a:prstGeom xmlns:a="http://schemas.openxmlformats.org/drawingml/2006/main" prst="rect">
            <a:avLst/>
          </a:prstGeom>
        </p:spPr>
      </p:pic>
    </p:spTree>
    <p:extLst>
      <p:ext uri="{BB962C8B-B14F-4D97-AF65-F5344CB8AC3E}">
        <p14:creationId xmlns:p14="http://schemas.microsoft.com/office/powerpoint/2010/main" val="1500851431"/>
      </p:ext>
    </p:extLst>
  </p:cSld>
</p:sld>
</file>

<file path=ppt/slides/slide2.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1" name="slide-number">
            <a:extLst xmlns:a="http://schemas.openxmlformats.org/drawingml/2006/main">
              <a:ext uri="{FF2B5EF4-FFF2-40B4-BE49-F238E27FC236}">
                <a16:creationId xmlns:a16="http://schemas.microsoft.com/office/drawing/2014/main" id="{372D3DE5-3B7F-45B1-B487-43C4D9904355}"/>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02</a:t>
            </a:r>
          </a:p>
        </p:txBody>
      </p:sp>
      <p:sp>
        <p:nvSpPr>
          <p:cNvPr id="2" name="section-label">
            <a:extLst xmlns:a="http://schemas.openxmlformats.org/drawingml/2006/main">
              <a:ext uri="{FF2B5EF4-FFF2-40B4-BE49-F238E27FC236}">
                <a16:creationId xmlns:a16="http://schemas.microsoft.com/office/drawing/2014/main" id="{4D7A2245-B771-4BAB-A930-62C70133B3EE}"/>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SMARTTAGIT, FACTORLAB</a:t>
            </a:r>
          </a:p>
        </p:txBody>
      </p:sp>
      <p:sp>
        <p:nvSpPr>
          <p:cNvPr id="3" name="headline">
            <a:extLst xmlns:a="http://schemas.openxmlformats.org/drawingml/2006/main">
              <a:ext uri="{FF2B5EF4-FFF2-40B4-BE49-F238E27FC236}">
                <a16:creationId xmlns:a16="http://schemas.microsoft.com/office/drawing/2014/main" id="{14AC98CF-4703-4D8B-8360-EBC126999CE0}"/>
              </a:ext>
            </a:extLst>
          </p:cNvPr>
          <p:cNvSpPr>
            <a:spLocks xmlns:a="http://schemas.openxmlformats.org/drawingml/2006/main" noGrp="1"/>
          </p:cNvSpPr>
          <p:nvPr/>
        </p:nvSpPr>
        <p:spPr>
          <a:xfrm xmlns:a="http://schemas.openxmlformats.org/drawingml/2006/main">
            <a:off x="609600" y="110490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900" b="1">
                <a:solidFill>
                  <a:srgbClr val="192B25"/>
                </a:solidFill>
                <a:latin typeface="Helvetica Neue"/>
                <a:ea typeface="Helvetica Neue"/>
                <a:cs typeface="Helvetica Neue"/>
              </a:defRPr>
            </a:pPr>
            <a:r>
              <a:rPr sz="3900" b="1">
                <a:solidFill>
                  <a:srgbClr val="192B25"/>
                </a:solidFill>
                <a:latin typeface="Helvetica Neue"/>
                <a:ea typeface="Helvetica Neue"/>
                <a:cs typeface="Helvetica Neue"/>
              </a:rPr>
              <a:t>A useful first question</a:t>
            </a:r>
          </a:p>
        </p:txBody>
      </p:sp>
      <p:sp>
        <p:nvSpPr>
          <p:cNvPr id="4" name="before-label">
            <a:extLst xmlns:a="http://schemas.openxmlformats.org/drawingml/2006/main">
              <a:ext uri="{FF2B5EF4-FFF2-40B4-BE49-F238E27FC236}">
                <a16:creationId xmlns:a16="http://schemas.microsoft.com/office/drawing/2014/main" id="{BCAAE70F-D06C-4ED5-8D2D-A8915107B43C}"/>
              </a:ext>
            </a:extLst>
          </p:cNvPr>
          <p:cNvSpPr>
            <a:spLocks xmlns:a="http://schemas.openxmlformats.org/drawingml/2006/main" noGrp="1"/>
          </p:cNvSpPr>
          <p:nvPr/>
        </p:nvSpPr>
        <p:spPr>
          <a:xfrm xmlns:a="http://schemas.openxmlformats.org/drawingml/2006/main">
            <a:off x="609600" y="2114550"/>
            <a:ext cx="5048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BEFORE</a:t>
            </a:r>
          </a:p>
        </p:txBody>
      </p:sp>
      <p:sp>
        <p:nvSpPr>
          <p:cNvPr id="5" name="after-label">
            <a:extLst xmlns:a="http://schemas.openxmlformats.org/drawingml/2006/main">
              <a:ext uri="{FF2B5EF4-FFF2-40B4-BE49-F238E27FC236}">
                <a16:creationId xmlns:a16="http://schemas.microsoft.com/office/drawing/2014/main" id="{25223654-D297-4BE2-A96F-3782581124C6}"/>
              </a:ext>
            </a:extLst>
          </p:cNvPr>
          <p:cNvSpPr>
            <a:spLocks xmlns:a="http://schemas.openxmlformats.org/drawingml/2006/main" noGrp="1"/>
          </p:cNvSpPr>
          <p:nvPr/>
        </p:nvSpPr>
        <p:spPr>
          <a:xfrm xmlns:a="http://schemas.openxmlformats.org/drawingml/2006/main">
            <a:off x="6400800" y="2114550"/>
            <a:ext cx="5181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MY DESIGN EXPLORATION</a:t>
            </a:r>
          </a:p>
        </p:txBody>
      </p:sp>
      <p:sp>
        <p:nvSpPr>
          <p:cNvPr id="6" name="before-caption">
            <a:extLst xmlns:a="http://schemas.openxmlformats.org/drawingml/2006/main">
              <a:ext uri="{FF2B5EF4-FFF2-40B4-BE49-F238E27FC236}">
                <a16:creationId xmlns:a16="http://schemas.microsoft.com/office/drawing/2014/main" id="{FD2A2869-B470-4F93-8484-83615D53F166}"/>
              </a:ext>
            </a:extLst>
          </p:cNvPr>
          <p:cNvSpPr>
            <a:spLocks xmlns:a="http://schemas.openxmlformats.org/drawingml/2006/main" noGrp="1"/>
          </p:cNvSpPr>
          <p:nvPr/>
        </p:nvSpPr>
        <p:spPr>
          <a:xfrm xmlns:a="http://schemas.openxmlformats.org/drawingml/2006/main">
            <a:off x="609600" y="2505075"/>
            <a:ext cx="5181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192B25"/>
                </a:solidFill>
                <a:latin typeface="Helvetica Neue"/>
                <a:ea typeface="Helvetica Neue"/>
                <a:cs typeface="Helvetica Neue"/>
              </a:defRPr>
            </a:pPr>
            <a:r>
              <a:rPr sz="1725" b="0">
                <a:solidFill>
                  <a:srgbClr val="192B25"/>
                </a:solidFill>
                <a:latin typeface="Helvetica Neue"/>
                <a:ea typeface="Helvetica Neue"/>
                <a:cs typeface="Helvetica Neue"/>
              </a:rPr>
              <a:t>An empty field and broad categories.</a:t>
            </a:r>
          </a:p>
        </p:txBody>
      </p:sp>
      <p:sp>
        <p:nvSpPr>
          <p:cNvPr id="7" name="after-caption">
            <a:extLst xmlns:a="http://schemas.openxmlformats.org/drawingml/2006/main">
              <a:ext uri="{FF2B5EF4-FFF2-40B4-BE49-F238E27FC236}">
                <a16:creationId xmlns:a16="http://schemas.microsoft.com/office/drawing/2014/main" id="{B85A68A8-2AA6-4DEA-944E-47FBACD98F93}"/>
              </a:ext>
            </a:extLst>
          </p:cNvPr>
          <p:cNvSpPr>
            <a:spLocks xmlns:a="http://schemas.openxmlformats.org/drawingml/2006/main" noGrp="1"/>
          </p:cNvSpPr>
          <p:nvPr/>
        </p:nvSpPr>
        <p:spPr>
          <a:xfrm xmlns:a="http://schemas.openxmlformats.org/drawingml/2006/main">
            <a:off x="6400800" y="2505075"/>
            <a:ext cx="5181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192B25"/>
                </a:solidFill>
                <a:latin typeface="Helvetica Neue"/>
                <a:ea typeface="Helvetica Neue"/>
                <a:cs typeface="Helvetica Neue"/>
              </a:defRPr>
            </a:pPr>
            <a:r>
              <a:rPr sz="1725" b="0">
                <a:solidFill>
                  <a:srgbClr val="192B25"/>
                </a:solidFill>
                <a:latin typeface="Helvetica Neue"/>
                <a:ea typeface="Helvetica Neue"/>
                <a:cs typeface="Helvetica Neue"/>
              </a:rPr>
              <a:t>Specific suggestions, ready to edit.</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866d6fd68944576"/>
          <a:stretch xmlns:a="http://schemas.openxmlformats.org/drawingml/2006/main"/>
        </p:blipFill>
        <p:spPr>
          <a:xfrm xmlns:a="http://schemas.openxmlformats.org/drawingml/2006/main">
            <a:off x="733696" y="3028950"/>
            <a:ext cx="4933409" cy="3305175"/>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93bfc2651d44369"/>
          <a:stretch xmlns:a="http://schemas.openxmlformats.org/drawingml/2006/main"/>
        </p:blipFill>
        <p:spPr>
          <a:xfrm xmlns:a="http://schemas.openxmlformats.org/drawingml/2006/main">
            <a:off x="6667649" y="3028950"/>
            <a:ext cx="4647902" cy="3305175"/>
          </a:xfrm>
          <a:prstGeom xmlns:a="http://schemas.openxmlformats.org/drawingml/2006/main" prst="rect">
            <a:avLst/>
          </a:prstGeom>
        </p:spPr>
      </p:pic>
      <p:sp>
        <p:nvSpPr>
          <p:cNvPr id="10" name="stage">
            <a:extLst xmlns:a="http://schemas.openxmlformats.org/drawingml/2006/main">
              <a:ext uri="{FF2B5EF4-FFF2-40B4-BE49-F238E27FC236}">
                <a16:creationId xmlns:a16="http://schemas.microsoft.com/office/drawing/2014/main" id="{548B68BD-5529-4C3B-8245-5C5FB0E5905A}"/>
              </a:ext>
            </a:extLst>
          </p:cNvPr>
          <p:cNvSpPr>
            <a:spLocks xmlns:a="http://schemas.openxmlformats.org/drawingml/2006/main" noGrp="1"/>
          </p:cNvSpPr>
          <p:nvPr/>
        </p:nvSpPr>
        <p:spPr>
          <a:xfrm xmlns:a="http://schemas.openxmlformats.org/drawingml/2006/main">
            <a:off x="609600" y="6467475"/>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Original interface and revised design · UX Designer &amp; Researcher, 2025–2026 · user impact unmeasured</a:t>
            </a:r>
          </a:p>
        </p:txBody>
      </p:sp>
    </p:spTree>
    <p:extLst>
      <p:ext uri="{BB962C8B-B14F-4D97-AF65-F5344CB8AC3E}">
        <p14:creationId xmlns:p14="http://schemas.microsoft.com/office/powerpoint/2010/main" val="1634921769"/>
      </p:ext>
    </p:extLst>
  </p:cSld>
</p:sld>
</file>

<file path=ppt/slides/slide3.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9" name="slide-number">
            <a:extLst xmlns:a="http://schemas.openxmlformats.org/drawingml/2006/main">
              <a:ext uri="{FF2B5EF4-FFF2-40B4-BE49-F238E27FC236}">
                <a16:creationId xmlns:a16="http://schemas.microsoft.com/office/drawing/2014/main" id="{63E5901C-45C7-4489-9BA9-311B936CB323}"/>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03</a:t>
            </a:r>
          </a:p>
        </p:txBody>
      </p:sp>
      <p:sp>
        <p:nvSpPr>
          <p:cNvPr id="2" name="section-label">
            <a:extLst xmlns:a="http://schemas.openxmlformats.org/drawingml/2006/main">
              <a:ext uri="{FF2B5EF4-FFF2-40B4-BE49-F238E27FC236}">
                <a16:creationId xmlns:a16="http://schemas.microsoft.com/office/drawing/2014/main" id="{295D178F-DAAC-4396-B030-6D0F8060B984}"/>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RESPONSE IN PROGRESS</a:t>
            </a:r>
          </a:p>
        </p:txBody>
      </p:sp>
      <p:sp>
        <p:nvSpPr>
          <p:cNvPr id="3" name="headline">
            <a:extLst xmlns:a="http://schemas.openxmlformats.org/drawingml/2006/main">
              <a:ext uri="{FF2B5EF4-FFF2-40B4-BE49-F238E27FC236}">
                <a16:creationId xmlns:a16="http://schemas.microsoft.com/office/drawing/2014/main" id="{170025BE-CCAE-4B3B-A614-4FA7EC1441A3}"/>
              </a:ext>
            </a:extLst>
          </p:cNvPr>
          <p:cNvSpPr>
            <a:spLocks xmlns:a="http://schemas.openxmlformats.org/drawingml/2006/main" noGrp="1"/>
          </p:cNvSpPr>
          <p:nvPr/>
        </p:nvSpPr>
        <p:spPr>
          <a:xfrm xmlns:a="http://schemas.openxmlformats.org/drawingml/2006/main">
            <a:off x="609600" y="1123950"/>
            <a:ext cx="56769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Waiting is part of</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the conversation</a:t>
            </a:r>
          </a:p>
        </p:txBody>
      </p:sp>
      <p:sp>
        <p:nvSpPr>
          <p:cNvPr id="4" name="waiting-decision">
            <a:extLst xmlns:a="http://schemas.openxmlformats.org/drawingml/2006/main">
              <a:ext uri="{FF2B5EF4-FFF2-40B4-BE49-F238E27FC236}">
                <a16:creationId xmlns:a16="http://schemas.microsoft.com/office/drawing/2014/main" id="{5C412603-137B-4291-9E11-EEE691A742A6}"/>
              </a:ext>
            </a:extLst>
          </p:cNvPr>
          <p:cNvSpPr>
            <a:spLocks xmlns:a="http://schemas.openxmlformats.org/drawingml/2006/main" noGrp="1"/>
          </p:cNvSpPr>
          <p:nvPr/>
        </p:nvSpPr>
        <p:spPr>
          <a:xfrm xmlns:a="http://schemas.openxmlformats.org/drawingml/2006/main">
            <a:off x="609600" y="3124200"/>
            <a:ext cx="4619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kept the question visible and gave the response a distinct waiting state.</a:t>
            </a:r>
          </a:p>
        </p:txBody>
      </p:sp>
      <p:sp>
        <p:nvSpPr>
          <p:cNvPr id="5" name="waiting-constraint">
            <a:extLst xmlns:a="http://schemas.openxmlformats.org/drawingml/2006/main">
              <a:ext uri="{FF2B5EF4-FFF2-40B4-BE49-F238E27FC236}">
                <a16:creationId xmlns:a16="http://schemas.microsoft.com/office/drawing/2014/main" id="{57F5B170-8E8E-4132-95D2-A2C24E59B413}"/>
              </a:ext>
            </a:extLst>
          </p:cNvPr>
          <p:cNvSpPr>
            <a:spLocks xmlns:a="http://schemas.openxmlformats.org/drawingml/2006/main" noGrp="1"/>
          </p:cNvSpPr>
          <p:nvPr/>
        </p:nvSpPr>
        <p:spPr>
          <a:xfrm xmlns:a="http://schemas.openxmlformats.org/drawingml/2006/main">
            <a:off x="609600" y="4543425"/>
            <a:ext cx="4619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Animation was an implementation question to resolve with engineering.</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d3d1ff870a04e19"/>
          <a:stretch xmlns:a="http://schemas.openxmlformats.org/drawingml/2006/main"/>
        </p:blipFill>
        <p:spPr>
          <a:xfrm xmlns:a="http://schemas.openxmlformats.org/drawingml/2006/main">
            <a:off x="5850211" y="2362200"/>
            <a:ext cx="2872828" cy="1219200"/>
          </a:xfrm>
          <a:prstGeom xmlns:a="http://schemas.openxmlformats.org/drawingml/2006/main" prst="rect">
            <a:avLst/>
          </a:prstGeom>
        </p:spPr>
      </p:pic>
      <p:sp>
        <p:nvSpPr>
          <p:cNvPr id="7" name="detail-caption">
            <a:extLst xmlns:a="http://schemas.openxmlformats.org/drawingml/2006/main">
              <a:ext uri="{FF2B5EF4-FFF2-40B4-BE49-F238E27FC236}">
                <a16:creationId xmlns:a16="http://schemas.microsoft.com/office/drawing/2014/main" id="{102ED4AF-0892-43AE-8A86-ED699CA32202}"/>
              </a:ext>
            </a:extLst>
          </p:cNvPr>
          <p:cNvSpPr>
            <a:spLocks xmlns:a="http://schemas.openxmlformats.org/drawingml/2006/main" noGrp="1"/>
          </p:cNvSpPr>
          <p:nvPr/>
        </p:nvSpPr>
        <p:spPr>
          <a:xfrm xmlns:a="http://schemas.openxmlformats.org/drawingml/2006/main">
            <a:off x="5905500" y="3810000"/>
            <a:ext cx="2686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Original state detail</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dbcead31a7b4e65"/>
          <a:stretch xmlns:a="http://schemas.openxmlformats.org/drawingml/2006/main"/>
        </p:blipFill>
        <p:spPr>
          <a:xfrm xmlns:a="http://schemas.openxmlformats.org/drawingml/2006/main">
            <a:off x="9087302" y="1076325"/>
            <a:ext cx="2351771" cy="5038725"/>
          </a:xfrm>
          <a:prstGeom xmlns:a="http://schemas.openxmlformats.org/drawingml/2006/main" prst="rect">
            <a:avLst/>
          </a:prstGeom>
        </p:spPr>
      </p:pic>
    </p:spTree>
    <p:extLst>
      <p:ext uri="{BB962C8B-B14F-4D97-AF65-F5344CB8AC3E}">
        <p14:creationId xmlns:p14="http://schemas.microsoft.com/office/powerpoint/2010/main" val="640413756"/>
      </p:ext>
    </p:extLst>
  </p:cSld>
</p:sld>
</file>

<file path=ppt/slides/slide4.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E2503DA0-E362-4A51-8AA2-F95C58E62938}"/>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04</a:t>
            </a:r>
          </a:p>
        </p:txBody>
      </p:sp>
      <p:sp>
        <p:nvSpPr>
          <p:cNvPr id="2" name="section-label">
            <a:extLst xmlns:a="http://schemas.openxmlformats.org/drawingml/2006/main">
              <a:ext uri="{FF2B5EF4-FFF2-40B4-BE49-F238E27FC236}">
                <a16:creationId xmlns:a16="http://schemas.microsoft.com/office/drawing/2014/main" id="{2AC76F82-D862-4F06-8349-8F3901FEE1E9}"/>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INTERRUPTED AND OFFLINE STATES</a:t>
            </a:r>
          </a:p>
        </p:txBody>
      </p:sp>
      <p:sp>
        <p:nvSpPr>
          <p:cNvPr id="3" name="headline">
            <a:extLst xmlns:a="http://schemas.openxmlformats.org/drawingml/2006/main">
              <a:ext uri="{FF2B5EF4-FFF2-40B4-BE49-F238E27FC236}">
                <a16:creationId xmlns:a16="http://schemas.microsoft.com/office/drawing/2014/main" id="{3DE4F008-4E04-4A9E-A03E-96816EA70ACC}"/>
              </a:ext>
            </a:extLst>
          </p:cNvPr>
          <p:cNvSpPr>
            <a:spLocks xmlns:a="http://schemas.openxmlformats.org/drawingml/2006/main" noGrp="1"/>
          </p:cNvSpPr>
          <p:nvPr/>
        </p:nvSpPr>
        <p:spPr>
          <a:xfrm xmlns:a="http://schemas.openxmlformats.org/drawingml/2006/main">
            <a:off x="609600" y="1133475"/>
            <a:ext cx="46672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Recovery follows</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the failure</a:t>
            </a:r>
          </a:p>
        </p:txBody>
      </p:sp>
      <p:sp>
        <p:nvSpPr>
          <p:cNvPr id="4" name="recovery-decision">
            <a:extLst xmlns:a="http://schemas.openxmlformats.org/drawingml/2006/main">
              <a:ext uri="{FF2B5EF4-FFF2-40B4-BE49-F238E27FC236}">
                <a16:creationId xmlns:a16="http://schemas.microsoft.com/office/drawing/2014/main" id="{714EE02C-48E6-40AE-AD27-980E80AFE1A7}"/>
              </a:ext>
            </a:extLst>
          </p:cNvPr>
          <p:cNvSpPr>
            <a:spLocks xmlns:a="http://schemas.openxmlformats.org/drawingml/2006/main" noGrp="1"/>
          </p:cNvSpPr>
          <p:nvPr/>
        </p:nvSpPr>
        <p:spPr>
          <a:xfrm xmlns:a="http://schemas.openxmlformats.org/drawingml/2006/main">
            <a:off x="609600" y="3209925"/>
            <a:ext cx="43529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An incomplete answer and a lost connection need different next actions.</a:t>
            </a:r>
          </a:p>
        </p:txBody>
      </p:sp>
      <p:sp>
        <p:nvSpPr>
          <p:cNvPr id="5" name="recovery-outcome">
            <a:extLst xmlns:a="http://schemas.openxmlformats.org/drawingml/2006/main">
              <a:ext uri="{FF2B5EF4-FFF2-40B4-BE49-F238E27FC236}">
                <a16:creationId xmlns:a16="http://schemas.microsoft.com/office/drawing/2014/main" id="{0236DB1D-F541-4DFF-A236-538E2119D8A6}"/>
              </a:ext>
            </a:extLst>
          </p:cNvPr>
          <p:cNvSpPr>
            <a:spLocks xmlns:a="http://schemas.openxmlformats.org/drawingml/2006/main" noGrp="1"/>
          </p:cNvSpPr>
          <p:nvPr/>
        </p:nvSpPr>
        <p:spPr>
          <a:xfrm xmlns:a="http://schemas.openxmlformats.org/drawingml/2006/main">
            <a:off x="609600" y="4695825"/>
            <a:ext cx="4352925"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An August 2026 engineering reply confirmed implementation of the approved error states. The exact pictured variants remain unverified.</a:t>
            </a:r>
          </a:p>
        </p:txBody>
      </p:sp>
      <p:sp>
        <p:nvSpPr>
          <p:cNvPr id="6" name="incomplete-label">
            <a:extLst xmlns:a="http://schemas.openxmlformats.org/drawingml/2006/main">
              <a:ext uri="{FF2B5EF4-FFF2-40B4-BE49-F238E27FC236}">
                <a16:creationId xmlns:a16="http://schemas.microsoft.com/office/drawing/2014/main" id="{D7AB9881-EDCA-4FC8-BBB9-CA290744C345}"/>
              </a:ext>
            </a:extLst>
          </p:cNvPr>
          <p:cNvSpPr>
            <a:spLocks xmlns:a="http://schemas.openxmlformats.org/drawingml/2006/main" noGrp="1"/>
          </p:cNvSpPr>
          <p:nvPr/>
        </p:nvSpPr>
        <p:spPr>
          <a:xfrm xmlns:a="http://schemas.openxmlformats.org/drawingml/2006/main">
            <a:off x="5638800" y="819150"/>
            <a:ext cx="249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Incomplete answer</a:t>
            </a:r>
          </a:p>
        </p:txBody>
      </p:sp>
      <p:sp>
        <p:nvSpPr>
          <p:cNvPr id="7" name="offline-label">
            <a:extLst xmlns:a="http://schemas.openxmlformats.org/drawingml/2006/main">
              <a:ext uri="{FF2B5EF4-FFF2-40B4-BE49-F238E27FC236}">
                <a16:creationId xmlns:a16="http://schemas.microsoft.com/office/drawing/2014/main" id="{8A425C49-C4DC-4A93-86DD-7DEC894EBE1B}"/>
              </a:ext>
            </a:extLst>
          </p:cNvPr>
          <p:cNvSpPr>
            <a:spLocks xmlns:a="http://schemas.openxmlformats.org/drawingml/2006/main" noGrp="1"/>
          </p:cNvSpPr>
          <p:nvPr/>
        </p:nvSpPr>
        <p:spPr>
          <a:xfrm xmlns:a="http://schemas.openxmlformats.org/drawingml/2006/main">
            <a:off x="8705850" y="819150"/>
            <a:ext cx="249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Connection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ff1bdb718c24156"/>
          <a:stretch xmlns:a="http://schemas.openxmlformats.org/drawingml/2006/main"/>
        </p:blipFill>
        <p:spPr>
          <a:xfrm xmlns:a="http://schemas.openxmlformats.org/drawingml/2006/main">
            <a:off x="5706555" y="1181100"/>
            <a:ext cx="2436239" cy="5219700"/>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bf5710226524da7"/>
          <a:stretch xmlns:a="http://schemas.openxmlformats.org/drawingml/2006/main"/>
        </p:blipFill>
        <p:spPr>
          <a:xfrm xmlns:a="http://schemas.openxmlformats.org/drawingml/2006/main">
            <a:off x="8773605" y="1181100"/>
            <a:ext cx="2436239" cy="5219700"/>
          </a:xfrm>
          <a:prstGeom xmlns:a="http://schemas.openxmlformats.org/drawingml/2006/main" prst="rect">
            <a:avLst/>
          </a:prstGeom>
        </p:spPr>
      </p:pic>
    </p:spTree>
    <p:extLst>
      <p:ext uri="{BB962C8B-B14F-4D97-AF65-F5344CB8AC3E}">
        <p14:creationId xmlns:p14="http://schemas.microsoft.com/office/powerpoint/2010/main" val="1154989318"/>
      </p:ext>
    </p:extLst>
  </p:cSld>
</p:sld>
</file>

<file path=ppt/slides/slide5.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62DC7942-6DD4-417E-996E-0EEE493E80F1}"/>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05</a:t>
            </a:r>
          </a:p>
        </p:txBody>
      </p:sp>
      <p:sp>
        <p:nvSpPr>
          <p:cNvPr id="2" name="section-label">
            <a:extLst xmlns:a="http://schemas.openxmlformats.org/drawingml/2006/main">
              <a:ext uri="{FF2B5EF4-FFF2-40B4-BE49-F238E27FC236}">
                <a16:creationId xmlns:a16="http://schemas.microsoft.com/office/drawing/2014/main" id="{CC5C4CCD-7412-4524-A4E8-B122F1EB9847}"/>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ABOUT ME   /   SMARTTAGIT, FACTORLAB</a:t>
            </a:r>
          </a:p>
        </p:txBody>
      </p:sp>
      <p:sp>
        <p:nvSpPr>
          <p:cNvPr id="3" name="headline">
            <a:extLst xmlns:a="http://schemas.openxmlformats.org/drawingml/2006/main">
              <a:ext uri="{FF2B5EF4-FFF2-40B4-BE49-F238E27FC236}">
                <a16:creationId xmlns:a16="http://schemas.microsoft.com/office/drawing/2014/main" id="{75B0691E-46E1-41B8-A59E-2A70543E5F98}"/>
              </a:ext>
            </a:extLst>
          </p:cNvPr>
          <p:cNvSpPr>
            <a:spLocks xmlns:a="http://schemas.openxmlformats.org/drawingml/2006/main" noGrp="1"/>
          </p:cNvSpPr>
          <p:nvPr/>
        </p:nvSpPr>
        <p:spPr>
          <a:xfrm xmlns:a="http://schemas.openxmlformats.org/drawingml/2006/main">
            <a:off x="609600" y="1095375"/>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050" b="1">
                <a:solidFill>
                  <a:srgbClr val="192B25"/>
                </a:solidFill>
                <a:latin typeface="Helvetica Neue"/>
                <a:ea typeface="Helvetica Neue"/>
                <a:cs typeface="Helvetica Neue"/>
              </a:defRPr>
            </a:pPr>
            <a:r>
              <a:rPr sz="4050" b="1">
                <a:solidFill>
                  <a:srgbClr val="192B25"/>
                </a:solidFill>
                <a:latin typeface="Helvetica Neue"/>
                <a:ea typeface="Helvetica Neue"/>
                <a:cs typeface="Helvetica Neue"/>
              </a:rPr>
              <a:t>Feedback</a:t>
            </a:r>
          </a:p>
          <a:p xmlns:a="http://schemas.openxmlformats.org/drawingml/2006/main">
            <a:pPr>
              <a:lnSpc>
                <a:spcPct val="110000"/>
              </a:lnSpc>
              <a:buNone/>
              <a:defRPr sz="4050" b="1">
                <a:solidFill>
                  <a:srgbClr val="192B25"/>
                </a:solidFill>
                <a:latin typeface="Helvetica Neue"/>
                <a:ea typeface="Helvetica Neue"/>
                <a:cs typeface="Helvetica Neue"/>
              </a:defRPr>
            </a:pPr>
            <a:r>
              <a:rPr sz="4050" b="1">
                <a:solidFill>
                  <a:srgbClr val="192B25"/>
                </a:solidFill>
                <a:latin typeface="Helvetica Neue"/>
                <a:ea typeface="Helvetica Neue"/>
                <a:cs typeface="Helvetica Neue"/>
              </a:rPr>
              <a:t>with context</a:t>
            </a:r>
          </a:p>
        </p:txBody>
      </p:sp>
      <p:sp>
        <p:nvSpPr>
          <p:cNvPr id="4" name="role">
            <a:extLst xmlns:a="http://schemas.openxmlformats.org/drawingml/2006/main">
              <a:ext uri="{FF2B5EF4-FFF2-40B4-BE49-F238E27FC236}">
                <a16:creationId xmlns:a16="http://schemas.microsoft.com/office/drawing/2014/main" id="{DBA44BB4-5B97-4220-8D92-17E68734A9D6}"/>
              </a:ext>
            </a:extLst>
          </p:cNvPr>
          <p:cNvSpPr>
            <a:spLocks xmlns:a="http://schemas.openxmlformats.org/drawingml/2006/main" noGrp="1"/>
          </p:cNvSpPr>
          <p:nvPr/>
        </p:nvSpPr>
        <p:spPr>
          <a:xfrm xmlns:a="http://schemas.openxmlformats.org/drawingml/2006/main">
            <a:off x="609600" y="2724150"/>
            <a:ext cx="52673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1">
                <a:solidFill>
                  <a:srgbClr val="244D3C"/>
                </a:solidFill>
                <a:latin typeface="Helvetica Neue"/>
                <a:ea typeface="Helvetica Neue"/>
                <a:cs typeface="Helvetica Neue"/>
              </a:defRPr>
            </a:pPr>
            <a:r>
              <a:rPr sz="1425" b="1">
                <a:solidFill>
                  <a:srgbClr val="244D3C"/>
                </a:solidFill>
                <a:latin typeface="Helvetica Neue"/>
                <a:ea typeface="Helvetica Neue"/>
                <a:cs typeface="Helvetica Neue"/>
              </a:rPr>
              <a:t>UX Designer &amp; Researcher (Contract), 2026</a:t>
            </a:r>
          </a:p>
        </p:txBody>
      </p:sp>
      <p:sp>
        <p:nvSpPr>
          <p:cNvPr id="5" name="about-decision">
            <a:extLst xmlns:a="http://schemas.openxmlformats.org/drawingml/2006/main">
              <a:ext uri="{FF2B5EF4-FFF2-40B4-BE49-F238E27FC236}">
                <a16:creationId xmlns:a16="http://schemas.microsoft.com/office/drawing/2014/main" id="{AA2FB6C3-65D6-4C7D-8D33-C9254AC0C5C4}"/>
              </a:ext>
            </a:extLst>
          </p:cNvPr>
          <p:cNvSpPr>
            <a:spLocks xmlns:a="http://schemas.openxmlformats.org/drawingml/2006/main" noGrp="1"/>
          </p:cNvSpPr>
          <p:nvPr/>
        </p:nvSpPr>
        <p:spPr>
          <a:xfrm xmlns:a="http://schemas.openxmlformats.org/drawingml/2006/main">
            <a:off x="609600" y="3429000"/>
            <a:ext cx="4676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connected a personal summary to its supporting observations and a useful next action.</a:t>
            </a:r>
          </a:p>
        </p:txBody>
      </p:sp>
      <p:sp>
        <p:nvSpPr>
          <p:cNvPr id="6" name="about-stage">
            <a:extLst xmlns:a="http://schemas.openxmlformats.org/drawingml/2006/main">
              <a:ext uri="{FF2B5EF4-FFF2-40B4-BE49-F238E27FC236}">
                <a16:creationId xmlns:a16="http://schemas.microsoft.com/office/drawing/2014/main" id="{5226FFE5-9076-48B3-9148-FB97CF106F79}"/>
              </a:ext>
            </a:extLst>
          </p:cNvPr>
          <p:cNvSpPr>
            <a:spLocks xmlns:a="http://schemas.openxmlformats.org/drawingml/2006/main" noGrp="1"/>
          </p:cNvSpPr>
          <p:nvPr/>
        </p:nvSpPr>
        <p:spPr>
          <a:xfrm xmlns:a="http://schemas.openxmlformats.org/drawingml/2006/main">
            <a:off x="609600" y="5314950"/>
            <a:ext cx="5210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Design iterations shown with sample content.</a:t>
            </a:r>
          </a:p>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Web/server release confirmed September 2, 2026.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65bec4aa85444ba"/>
          <a:stretch xmlns:a="http://schemas.openxmlformats.org/drawingml/2006/main"/>
        </p:blipFill>
        <p:spPr>
          <a:xfrm xmlns:a="http://schemas.openxmlformats.org/drawingml/2006/main">
            <a:off x="6410325" y="1546021"/>
            <a:ext cx="4857750" cy="4737509"/>
          </a:xfrm>
          <a:prstGeom xmlns:a="http://schemas.openxmlformats.org/drawingml/2006/main" prst="rect">
            <a:avLst/>
          </a:prstGeom>
        </p:spPr>
      </p:pic>
    </p:spTree>
    <p:extLst>
      <p:ext uri="{BB962C8B-B14F-4D97-AF65-F5344CB8AC3E}">
        <p14:creationId xmlns:p14="http://schemas.microsoft.com/office/powerpoint/2010/main" val="966602934"/>
      </p:ext>
    </p:extLst>
  </p:cSld>
</p:sld>
</file>

<file path=ppt/slides/slide6.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2CEBCD03-69BA-4D22-A753-DDEC1E38558F}"/>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06</a:t>
            </a:r>
          </a:p>
        </p:txBody>
      </p:sp>
      <p:sp>
        <p:nvSpPr>
          <p:cNvPr id="2" name="section-label">
            <a:extLst xmlns:a="http://schemas.openxmlformats.org/drawingml/2006/main">
              <a:ext uri="{FF2B5EF4-FFF2-40B4-BE49-F238E27FC236}">
                <a16:creationId xmlns:a16="http://schemas.microsoft.com/office/drawing/2014/main" id="{5E567625-42AA-4906-9A09-B3D44DF04CBD}"/>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ABOUT ME   /   NEUTRAL COMPARISON</a:t>
            </a:r>
          </a:p>
        </p:txBody>
      </p:sp>
      <p:sp>
        <p:nvSpPr>
          <p:cNvPr id="3" name="headline">
            <a:extLst xmlns:a="http://schemas.openxmlformats.org/drawingml/2006/main">
              <a:ext uri="{FF2B5EF4-FFF2-40B4-BE49-F238E27FC236}">
                <a16:creationId xmlns:a16="http://schemas.microsoft.com/office/drawing/2014/main" id="{05E336DD-1DD4-46DC-BD21-0856BF4A1F79}"/>
              </a:ext>
            </a:extLst>
          </p:cNvPr>
          <p:cNvSpPr>
            <a:spLocks xmlns:a="http://schemas.openxmlformats.org/drawingml/2006/main" noGrp="1"/>
          </p:cNvSpPr>
          <p:nvPr/>
        </p:nvSpPr>
        <p:spPr>
          <a:xfrm xmlns:a="http://schemas.openxmlformats.org/drawingml/2006/main">
            <a:off x="609600" y="1114425"/>
            <a:ext cx="557212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A comparison needs</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an interpretation</a:t>
            </a:r>
          </a:p>
        </p:txBody>
      </p:sp>
      <p:sp>
        <p:nvSpPr>
          <p:cNvPr id="4" name="comparison-decision">
            <a:extLst xmlns:a="http://schemas.openxmlformats.org/drawingml/2006/main">
              <a:ext uri="{FF2B5EF4-FFF2-40B4-BE49-F238E27FC236}">
                <a16:creationId xmlns:a16="http://schemas.microsoft.com/office/drawing/2014/main" id="{7782A241-0436-4DF9-B8D0-88AB2DDDCBF7}"/>
              </a:ext>
            </a:extLst>
          </p:cNvPr>
          <p:cNvSpPr>
            <a:spLocks xmlns:a="http://schemas.openxmlformats.org/drawingml/2006/main" noGrp="1"/>
          </p:cNvSpPr>
          <p:nvPr/>
        </p:nvSpPr>
        <p:spPr>
          <a:xfrm xmlns:a="http://schemas.openxmlformats.org/drawingml/2006/main">
            <a:off x="609600" y="3181350"/>
            <a:ext cx="44005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Mentioning fatigue less often is a comparison. Whether that is good depends on the context.</a:t>
            </a:r>
          </a:p>
        </p:txBody>
      </p:sp>
      <p:sp>
        <p:nvSpPr>
          <p:cNvPr id="5" name="comparison-outcome">
            <a:extLst xmlns:a="http://schemas.openxmlformats.org/drawingml/2006/main">
              <a:ext uri="{FF2B5EF4-FFF2-40B4-BE49-F238E27FC236}">
                <a16:creationId xmlns:a16="http://schemas.microsoft.com/office/drawing/2014/main" id="{303FC3DF-992B-4DDD-AA28-D29B4705B1F8}"/>
              </a:ext>
            </a:extLst>
          </p:cNvPr>
          <p:cNvSpPr>
            <a:spLocks xmlns:a="http://schemas.openxmlformats.org/drawingml/2006/main" noGrp="1"/>
          </p:cNvSpPr>
          <p:nvPr/>
        </p:nvSpPr>
        <p:spPr>
          <a:xfrm xmlns:a="http://schemas.openxmlformats.org/drawingml/2006/main">
            <a:off x="609600" y="5010150"/>
            <a:ext cx="44005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I raised the cohort, percentile and wording questions before they became interface rules.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51ce47b009584793"/>
          <a:stretch xmlns:a="http://schemas.openxmlformats.org/drawingml/2006/main"/>
        </p:blipFill>
        <p:spPr>
          <a:xfrm xmlns:a="http://schemas.openxmlformats.org/drawingml/2006/main">
            <a:off x="5876925" y="2249327"/>
            <a:ext cx="5572125" cy="3692847"/>
          </a:xfrm>
          <a:prstGeom xmlns:a="http://schemas.openxmlformats.org/drawingml/2006/main" prst="rect">
            <a:avLst/>
          </a:prstGeom>
        </p:spPr>
      </p:pic>
      <p:sp>
        <p:nvSpPr>
          <p:cNvPr id="7" name="sample-label">
            <a:extLst xmlns:a="http://schemas.openxmlformats.org/drawingml/2006/main">
              <a:ext uri="{FF2B5EF4-FFF2-40B4-BE49-F238E27FC236}">
                <a16:creationId xmlns:a16="http://schemas.microsoft.com/office/drawing/2014/main" id="{AD30F844-831B-4276-8062-62372EBC6A32}"/>
              </a:ext>
            </a:extLst>
          </p:cNvPr>
          <p:cNvSpPr>
            <a:spLocks xmlns:a="http://schemas.openxmlformats.org/drawingml/2006/main" noGrp="1"/>
          </p:cNvSpPr>
          <p:nvPr/>
        </p:nvSpPr>
        <p:spPr>
          <a:xfrm xmlns:a="http://schemas.openxmlformats.org/drawingml/2006/main">
            <a:off x="5915025" y="6153150"/>
            <a:ext cx="5505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Original widget, illustrative values</a:t>
            </a:r>
          </a:p>
        </p:txBody>
      </p:sp>
    </p:spTree>
    <p:extLst>
      <p:ext uri="{BB962C8B-B14F-4D97-AF65-F5344CB8AC3E}">
        <p14:creationId xmlns:p14="http://schemas.microsoft.com/office/powerpoint/2010/main" val="207338722"/>
      </p:ext>
    </p:extLst>
  </p:cSld>
</p:sld>
</file>

<file path=ppt/slides/slide7.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775E6D91-9F71-4186-BEB2-68308CF45FA1}"/>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07</a:t>
            </a:r>
          </a:p>
        </p:txBody>
      </p:sp>
      <p:sp>
        <p:nvSpPr>
          <p:cNvPr id="2" name="section-label">
            <a:extLst xmlns:a="http://schemas.openxmlformats.org/drawingml/2006/main">
              <a:ext uri="{FF2B5EF4-FFF2-40B4-BE49-F238E27FC236}">
                <a16:creationId xmlns:a16="http://schemas.microsoft.com/office/drawing/2014/main" id="{F0F39D1A-88DF-4BBC-A700-801C1D4BA9DB}"/>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LEAD UX RESEARCHER, 2023–2025</a:t>
            </a:r>
          </a:p>
        </p:txBody>
      </p:sp>
      <p:sp>
        <p:nvSpPr>
          <p:cNvPr id="3" name="headline">
            <a:extLst xmlns:a="http://schemas.openxmlformats.org/drawingml/2006/main">
              <a:ext uri="{FF2B5EF4-FFF2-40B4-BE49-F238E27FC236}">
                <a16:creationId xmlns:a16="http://schemas.microsoft.com/office/drawing/2014/main" id="{3B56CEA9-5419-4A47-97AD-9E041FB2A4E2}"/>
              </a:ext>
            </a:extLst>
          </p:cNvPr>
          <p:cNvSpPr>
            <a:spLocks xmlns:a="http://schemas.openxmlformats.org/drawingml/2006/main" noGrp="1"/>
          </p:cNvSpPr>
          <p:nvPr/>
        </p:nvSpPr>
        <p:spPr>
          <a:xfrm xmlns:a="http://schemas.openxmlformats.org/drawingml/2006/main">
            <a:off x="609600" y="1104900"/>
            <a:ext cx="42481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Competing</a:t>
            </a:r>
          </a:p>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entry points</a:t>
            </a:r>
          </a:p>
        </p:txBody>
      </p:sp>
      <p:sp>
        <p:nvSpPr>
          <p:cNvPr id="4" name="oak-observation">
            <a:extLst xmlns:a="http://schemas.openxmlformats.org/drawingml/2006/main">
              <a:ext uri="{FF2B5EF4-FFF2-40B4-BE49-F238E27FC236}">
                <a16:creationId xmlns:a16="http://schemas.microsoft.com/office/drawing/2014/main" id="{ED931B58-FA09-4E8B-B0C6-4DD6EF8E059B}"/>
              </a:ext>
            </a:extLst>
          </p:cNvPr>
          <p:cNvSpPr>
            <a:spLocks xmlns:a="http://schemas.openxmlformats.org/drawingml/2006/main" noGrp="1"/>
          </p:cNvSpPr>
          <p:nvPr/>
        </p:nvSpPr>
        <p:spPr>
          <a:xfrm xmlns:a="http://schemas.openxmlformats.org/drawingml/2006/main">
            <a:off x="609600" y="2981325"/>
            <a:ext cx="4057650"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Training an assistant, starting a Vibecheck and requesting support competed at the same entry point.</a:t>
            </a:r>
          </a:p>
        </p:txBody>
      </p:sp>
      <p:sp>
        <p:nvSpPr>
          <p:cNvPr id="5" name="oak-rationale">
            <a:extLst xmlns:a="http://schemas.openxmlformats.org/drawingml/2006/main">
              <a:ext uri="{FF2B5EF4-FFF2-40B4-BE49-F238E27FC236}">
                <a16:creationId xmlns:a16="http://schemas.microsoft.com/office/drawing/2014/main" id="{C72E56B1-FC2F-4999-BAF9-F5A353950FB0}"/>
              </a:ext>
            </a:extLst>
          </p:cNvPr>
          <p:cNvSpPr>
            <a:spLocks xmlns:a="http://schemas.openxmlformats.org/drawingml/2006/main" noGrp="1"/>
          </p:cNvSpPr>
          <p:nvPr/>
        </p:nvSpPr>
        <p:spPr>
          <a:xfrm xmlns:a="http://schemas.openxmlformats.org/drawingml/2006/main">
            <a:off x="609600" y="5038725"/>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I used the audit to make these choices explicit for the team’s review.</a:t>
            </a:r>
          </a:p>
        </p:txBody>
      </p:sp>
      <p:sp>
        <p:nvSpPr>
          <p:cNvPr id="6" name="oak-stage">
            <a:extLst xmlns:a="http://schemas.openxmlformats.org/drawingml/2006/main">
              <a:ext uri="{FF2B5EF4-FFF2-40B4-BE49-F238E27FC236}">
                <a16:creationId xmlns:a16="http://schemas.microsoft.com/office/drawing/2014/main" id="{A04B6531-C174-475A-8F4A-002EF231E117}"/>
              </a:ext>
            </a:extLst>
          </p:cNvPr>
          <p:cNvSpPr>
            <a:spLocks xmlns:a="http://schemas.openxmlformats.org/drawingml/2006/main" noGrp="1"/>
          </p:cNvSpPr>
          <p:nvPr/>
        </p:nvSpPr>
        <p:spPr>
          <a:xfrm xmlns:a="http://schemas.openxmlformats.org/drawingml/2006/main">
            <a:off x="609600" y="6096000"/>
            <a:ext cx="4248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Usability evaluation and design recommendations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4779103d0a2a4be1"/>
          <a:stretch xmlns:a="http://schemas.openxmlformats.org/drawingml/2006/main"/>
        </p:blipFill>
        <p:spPr>
          <a:xfrm xmlns:a="http://schemas.openxmlformats.org/drawingml/2006/main">
            <a:off x="5147971" y="1438275"/>
            <a:ext cx="6429958" cy="5048250"/>
          </a:xfrm>
          <a:prstGeom xmlns:a="http://schemas.openxmlformats.org/drawingml/2006/main" prst="rect">
            <a:avLst/>
          </a:prstGeom>
        </p:spPr>
      </p:pic>
    </p:spTree>
    <p:extLst>
      <p:ext uri="{BB962C8B-B14F-4D97-AF65-F5344CB8AC3E}">
        <p14:creationId xmlns:p14="http://schemas.microsoft.com/office/powerpoint/2010/main" val="993783581"/>
      </p:ext>
    </p:extLst>
  </p:cSld>
</p:sld>
</file>

<file path=ppt/slides/slide8.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3" name="slide-number">
            <a:extLst xmlns:a="http://schemas.openxmlformats.org/drawingml/2006/main">
              <a:ext uri="{FF2B5EF4-FFF2-40B4-BE49-F238E27FC236}">
                <a16:creationId xmlns:a16="http://schemas.microsoft.com/office/drawing/2014/main" id="{46F8FFB7-4167-4492-A44A-8F81B191D013}"/>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08</a:t>
            </a:r>
          </a:p>
        </p:txBody>
      </p:sp>
      <p:sp>
        <p:nvSpPr>
          <p:cNvPr id="2" name="section-label">
            <a:extLst xmlns:a="http://schemas.openxmlformats.org/drawingml/2006/main">
              <a:ext uri="{FF2B5EF4-FFF2-40B4-BE49-F238E27FC236}">
                <a16:creationId xmlns:a16="http://schemas.microsoft.com/office/drawing/2014/main" id="{CCE1B6A1-A170-4512-8330-C27B6BEFAAE7}"/>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ERROR RECOVERY RECOMMENDATION</a:t>
            </a:r>
          </a:p>
        </p:txBody>
      </p:sp>
      <p:sp>
        <p:nvSpPr>
          <p:cNvPr id="3" name="headline">
            <a:extLst xmlns:a="http://schemas.openxmlformats.org/drawingml/2006/main">
              <a:ext uri="{FF2B5EF4-FFF2-40B4-BE49-F238E27FC236}">
                <a16:creationId xmlns:a16="http://schemas.microsoft.com/office/drawing/2014/main" id="{734ED87D-FB2A-4722-A717-502554CA31B4}"/>
              </a:ext>
            </a:extLst>
          </p:cNvPr>
          <p:cNvSpPr>
            <a:spLocks xmlns:a="http://schemas.openxmlformats.org/drawingml/2006/main" noGrp="1"/>
          </p:cNvSpPr>
          <p:nvPr/>
        </p:nvSpPr>
        <p:spPr>
          <a:xfrm xmlns:a="http://schemas.openxmlformats.org/drawingml/2006/main">
            <a:off x="609600" y="1104900"/>
            <a:ext cx="1095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Error feedback beside the field</a:t>
            </a:r>
          </a:p>
        </p:txBody>
      </p:sp>
      <p:sp>
        <p:nvSpPr>
          <p:cNvPr id="4" name="original-label">
            <a:extLst xmlns:a="http://schemas.openxmlformats.org/drawingml/2006/main">
              <a:ext uri="{FF2B5EF4-FFF2-40B4-BE49-F238E27FC236}">
                <a16:creationId xmlns:a16="http://schemas.microsoft.com/office/drawing/2014/main" id="{5A0E59DD-BB65-4278-B20E-CDC20A230857}"/>
              </a:ext>
            </a:extLst>
          </p:cNvPr>
          <p:cNvSpPr>
            <a:spLocks xmlns:a="http://schemas.openxmlformats.org/drawingml/2006/main" noGrp="1"/>
          </p:cNvSpPr>
          <p:nvPr/>
        </p:nvSpPr>
        <p:spPr>
          <a:xfrm xmlns:a="http://schemas.openxmlformats.org/drawingml/2006/main">
            <a:off x="609600" y="216217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ORIGINAL</a:t>
            </a:r>
          </a:p>
        </p:txBody>
      </p:sp>
      <p:sp>
        <p:nvSpPr>
          <p:cNvPr id="5" name="proposed-label">
            <a:extLst xmlns:a="http://schemas.openxmlformats.org/drawingml/2006/main">
              <a:ext uri="{FF2B5EF4-FFF2-40B4-BE49-F238E27FC236}">
                <a16:creationId xmlns:a16="http://schemas.microsoft.com/office/drawing/2014/main" id="{A8425475-36CA-4E66-AF4C-C01F13A623A2}"/>
              </a:ext>
            </a:extLst>
          </p:cNvPr>
          <p:cNvSpPr>
            <a:spLocks xmlns:a="http://schemas.openxmlformats.org/drawingml/2006/main" noGrp="1"/>
          </p:cNvSpPr>
          <p:nvPr/>
        </p:nvSpPr>
        <p:spPr>
          <a:xfrm xmlns:a="http://schemas.openxmlformats.org/drawingml/2006/main">
            <a:off x="6515100" y="216217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MY RECOMMENDATION</a:t>
            </a:r>
          </a:p>
        </p:txBody>
      </p:sp>
      <p:sp>
        <p:nvSpPr>
          <p:cNvPr id="6" name="error-observation">
            <a:extLst xmlns:a="http://schemas.openxmlformats.org/drawingml/2006/main">
              <a:ext uri="{FF2B5EF4-FFF2-40B4-BE49-F238E27FC236}">
                <a16:creationId xmlns:a16="http://schemas.microsoft.com/office/drawing/2014/main" id="{9B4831F5-7BFE-494E-A696-DF1FD20091D3}"/>
              </a:ext>
            </a:extLst>
          </p:cNvPr>
          <p:cNvSpPr>
            <a:spLocks xmlns:a="http://schemas.openxmlformats.org/drawingml/2006/main" noGrp="1"/>
          </p:cNvSpPr>
          <p:nvPr/>
        </p:nvSpPr>
        <p:spPr>
          <a:xfrm xmlns:a="http://schemas.openxmlformats.org/drawingml/2006/main">
            <a:off x="609600" y="256222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192B25"/>
                </a:solidFill>
                <a:latin typeface="Helvetica Neue"/>
                <a:ea typeface="Helvetica Neue"/>
                <a:cs typeface="Helvetica Neue"/>
              </a:defRPr>
            </a:pPr>
            <a:r>
              <a:rPr sz="1725" b="0">
                <a:solidFill>
                  <a:srgbClr val="192B25"/>
                </a:solidFill>
                <a:latin typeface="Helvetica Neue"/>
                <a:ea typeface="Helvetica Neue"/>
                <a:cs typeface="Helvetica Neue"/>
              </a:rPr>
              <a:t>The error sat away from the login fields.</a:t>
            </a:r>
          </a:p>
        </p:txBody>
      </p:sp>
      <p:sp>
        <p:nvSpPr>
          <p:cNvPr id="7" name="error-recommendation">
            <a:extLst xmlns:a="http://schemas.openxmlformats.org/drawingml/2006/main">
              <a:ext uri="{FF2B5EF4-FFF2-40B4-BE49-F238E27FC236}">
                <a16:creationId xmlns:a16="http://schemas.microsoft.com/office/drawing/2014/main" id="{3659ACDA-D2EC-4F28-BF57-AEDF874367CE}"/>
              </a:ext>
            </a:extLst>
          </p:cNvPr>
          <p:cNvSpPr>
            <a:spLocks xmlns:a="http://schemas.openxmlformats.org/drawingml/2006/main" noGrp="1"/>
          </p:cNvSpPr>
          <p:nvPr/>
        </p:nvSpPr>
        <p:spPr>
          <a:xfrm xmlns:a="http://schemas.openxmlformats.org/drawingml/2006/main">
            <a:off x="6515100" y="256222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192B25"/>
                </a:solidFill>
                <a:latin typeface="Helvetica Neue"/>
                <a:ea typeface="Helvetica Neue"/>
                <a:cs typeface="Helvetica Neue"/>
              </a:defRPr>
            </a:pPr>
            <a:r>
              <a:rPr sz="1725" b="0">
                <a:solidFill>
                  <a:srgbClr val="192B25"/>
                </a:solidFill>
                <a:latin typeface="Helvetica Neue"/>
                <a:ea typeface="Helvetica Neue"/>
                <a:cs typeface="Helvetica Neue"/>
              </a:rPr>
              <a:t>Place the correction beside the field.</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bf3b30dd7f34c65"/>
          <a:stretch xmlns:a="http://schemas.openxmlformats.org/drawingml/2006/main"/>
        </p:blipFill>
        <p:spPr>
          <a:xfrm xmlns:a="http://schemas.openxmlformats.org/drawingml/2006/main">
            <a:off x="1366838" y="3067050"/>
            <a:ext cx="3533775" cy="2867025"/>
          </a:xfrm>
          <a:prstGeom xmlns:a="http://schemas.openxmlformats.org/drawingml/2006/main" prst="rect">
            <a:avLst/>
          </a:prstGeom>
        </p:spPr>
      </p:pic>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33d956caf3f40bb"/>
          <a:stretch xmlns:a="http://schemas.openxmlformats.org/drawingml/2006/main"/>
        </p:blipFill>
        <p:spPr>
          <a:xfrm xmlns:a="http://schemas.openxmlformats.org/drawingml/2006/main">
            <a:off x="7038975" y="3067050"/>
            <a:ext cx="4000500" cy="2867025"/>
          </a:xfrm>
          <a:prstGeom xmlns:a="http://schemas.openxmlformats.org/drawingml/2006/main" prst="rect">
            <a:avLst/>
          </a:prstGeom>
        </p:spPr>
      </p:pic>
      <p:sp>
        <p:nvSpPr>
          <p:cNvPr id="10" name="footer-label">
            <a:extLst xmlns:a="http://schemas.openxmlformats.org/drawingml/2006/main">
              <a:ext uri="{FF2B5EF4-FFF2-40B4-BE49-F238E27FC236}">
                <a16:creationId xmlns:a16="http://schemas.microsoft.com/office/drawing/2014/main" id="{F8635E8F-B4E7-4D24-BF00-4DA19A14C4B2}"/>
              </a:ext>
            </a:extLst>
          </p:cNvPr>
          <p:cNvSpPr>
            <a:spLocks xmlns:a="http://schemas.openxmlformats.org/drawingml/2006/main" noGrp="1"/>
          </p:cNvSpPr>
          <p:nvPr/>
        </p:nvSpPr>
        <p:spPr>
          <a:xfrm xmlns:a="http://schemas.openxmlformats.org/drawingml/2006/main">
            <a:off x="609600" y="6076950"/>
            <a:ext cx="504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Separate page-footer message:</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fef72d5159443a2"/>
          <a:stretch xmlns:a="http://schemas.openxmlformats.org/drawingml/2006/main"/>
        </p:blipFill>
        <p:spPr>
          <a:xfrm xmlns:a="http://schemas.openxmlformats.org/drawingml/2006/main">
            <a:off x="609600" y="6372225"/>
            <a:ext cx="3476625" cy="333375"/>
          </a:xfrm>
          <a:prstGeom xmlns:a="http://schemas.openxmlformats.org/drawingml/2006/main" prst="rect">
            <a:avLst/>
          </a:prstGeom>
        </p:spPr>
      </p:pic>
      <p:sp>
        <p:nvSpPr>
          <p:cNvPr id="12" name="recommendation-status">
            <a:extLst xmlns:a="http://schemas.openxmlformats.org/drawingml/2006/main">
              <a:ext uri="{FF2B5EF4-FFF2-40B4-BE49-F238E27FC236}">
                <a16:creationId xmlns:a16="http://schemas.microsoft.com/office/drawing/2014/main" id="{4AC632A4-8197-4D73-8C92-D9260CDC9ABB}"/>
              </a:ext>
            </a:extLst>
          </p:cNvPr>
          <p:cNvSpPr>
            <a:spLocks xmlns:a="http://schemas.openxmlformats.org/drawingml/2006/main" noGrp="1"/>
          </p:cNvSpPr>
          <p:nvPr/>
        </p:nvSpPr>
        <p:spPr>
          <a:xfrm xmlns:a="http://schemas.openxmlformats.org/drawingml/2006/main">
            <a:off x="6515100" y="6115050"/>
            <a:ext cx="46863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Original recommendation artifact.</a:t>
            </a:r>
          </a:p>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Exact shipped variant and usability impact unverified.</a:t>
            </a:r>
          </a:p>
        </p:txBody>
      </p:sp>
    </p:spTree>
    <p:extLst>
      <p:ext uri="{BB962C8B-B14F-4D97-AF65-F5344CB8AC3E}">
        <p14:creationId xmlns:p14="http://schemas.microsoft.com/office/powerpoint/2010/main" val="1755468734"/>
      </p:ext>
    </p:extLst>
  </p:cSld>
</p:sld>
</file>

<file path=ppt/slides/slide9.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9" name="slide-number">
            <a:extLst xmlns:a="http://schemas.openxmlformats.org/drawingml/2006/main">
              <a:ext uri="{FF2B5EF4-FFF2-40B4-BE49-F238E27FC236}">
                <a16:creationId xmlns:a16="http://schemas.microsoft.com/office/drawing/2014/main" id="{CEE50694-93EC-42D3-89AC-CB4E21C72E50}"/>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
        <p:nvSpPr>
          <p:cNvPr id="2" name="story-image-surface">
            <a:extLst xmlns:a="http://schemas.openxmlformats.org/drawingml/2006/main">
              <a:ext uri="{FF2B5EF4-FFF2-40B4-BE49-F238E27FC236}">
                <a16:creationId xmlns:a16="http://schemas.microsoft.com/office/drawing/2014/main" id="{24FCD8FB-3E96-494C-B896-89A057291B2C}"/>
              </a:ext>
            </a:extLst>
          </p:cNvPr>
          <p:cNvSpPr>
            <a:spLocks xmlns:a="http://schemas.openxmlformats.org/drawingml/2006/main" noGrp="1"/>
          </p:cNvSpPr>
          <p:nvPr/>
        </p:nvSpPr>
        <p:spPr>
          <a:xfrm xmlns:a="http://schemas.openxmlformats.org/drawingml/2006/main">
            <a:off x="6705600" y="0"/>
            <a:ext cx="5486400" cy="6858000"/>
          </a:xfrm>
          <a:prstGeom xmlns:a="http://schemas.openxmlformats.org/drawingml/2006/main" prst="rect">
            <a:avLst/>
          </a:prstGeom>
          <a:solidFill xmlns:a="http://schemas.openxmlformats.org/drawingml/2006/main">
            <a:srgbClr val="E1E8DB"/>
          </a:solidFill>
          <a:ln xmlns:a="http://schemas.openxmlformats.org/drawingml/2006/main" w="0">
            <a:noFill/>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eb0e09ddffa4fa6"/>
          <a:stretch xmlns:a="http://schemas.openxmlformats.org/drawingml/2006/main"/>
        </p:blipFill>
        <p:spPr>
          <a:xfrm xmlns:a="http://schemas.openxmlformats.org/drawingml/2006/main">
            <a:off x="7010400" y="1466850"/>
            <a:ext cx="4876800" cy="4876800"/>
          </a:xfrm>
          <a:prstGeom xmlns:a="http://schemas.openxmlformats.org/drawingml/2006/main" prst="rect">
            <a:avLst/>
          </a:prstGeom>
        </p:spPr>
      </p:pic>
      <p:sp>
        <p:nvSpPr>
          <p:cNvPr id="4" name="section-label">
            <a:extLst xmlns:a="http://schemas.openxmlformats.org/drawingml/2006/main">
              <a:ext uri="{FF2B5EF4-FFF2-40B4-BE49-F238E27FC236}">
                <a16:creationId xmlns:a16="http://schemas.microsoft.com/office/drawing/2014/main" id="{7A81CFA2-5C78-4667-A737-30FD9EBEFFB0}"/>
              </a:ext>
            </a:extLst>
          </p:cNvPr>
          <p:cNvSpPr>
            <a:spLocks xmlns:a="http://schemas.openxmlformats.org/drawingml/2006/main" noGrp="1"/>
          </p:cNvSpPr>
          <p:nvPr/>
        </p:nvSpPr>
        <p:spPr>
          <a:xfrm xmlns:a="http://schemas.openxmlformats.org/drawingml/2006/main">
            <a:off x="609600" y="514350"/>
            <a:ext cx="5753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THREAD THROUGH MY WORK</a:t>
            </a:r>
          </a:p>
        </p:txBody>
      </p:sp>
      <p:sp>
        <p:nvSpPr>
          <p:cNvPr id="5" name="headline">
            <a:extLst xmlns:a="http://schemas.openxmlformats.org/drawingml/2006/main">
              <a:ext uri="{FF2B5EF4-FFF2-40B4-BE49-F238E27FC236}">
                <a16:creationId xmlns:a16="http://schemas.microsoft.com/office/drawing/2014/main" id="{B09ADDBC-2D33-45D9-A160-B713EF2C84DC}"/>
              </a:ext>
            </a:extLst>
          </p:cNvPr>
          <p:cNvSpPr>
            <a:spLocks xmlns:a="http://schemas.openxmlformats.org/drawingml/2006/main" noGrp="1"/>
          </p:cNvSpPr>
          <p:nvPr/>
        </p:nvSpPr>
        <p:spPr>
          <a:xfrm xmlns:a="http://schemas.openxmlformats.org/drawingml/2006/main">
            <a:off x="609600" y="1438275"/>
            <a:ext cx="57340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I started by listening</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to people’s stories</a:t>
            </a:r>
          </a:p>
        </p:txBody>
      </p:sp>
      <p:sp>
        <p:nvSpPr>
          <p:cNvPr id="6" name="story-documentary">
            <a:extLst xmlns:a="http://schemas.openxmlformats.org/drawingml/2006/main">
              <a:ext uri="{FF2B5EF4-FFF2-40B4-BE49-F238E27FC236}">
                <a16:creationId xmlns:a16="http://schemas.microsoft.com/office/drawing/2014/main" id="{B129A756-3798-4BEA-952F-E2315739255B}"/>
              </a:ext>
            </a:extLst>
          </p:cNvPr>
          <p:cNvSpPr>
            <a:spLocks xmlns:a="http://schemas.openxmlformats.org/drawingml/2006/main" noGrp="1"/>
          </p:cNvSpPr>
          <p:nvPr/>
        </p:nvSpPr>
        <p:spPr>
          <a:xfrm xmlns:a="http://schemas.openxmlformats.org/drawingml/2006/main">
            <a:off x="609600" y="3609975"/>
            <a:ext cx="56102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Documentary filmmaking taught me to listen closely and find the thread in a complicated story.</a:t>
            </a:r>
          </a:p>
        </p:txBody>
      </p:sp>
      <p:sp>
        <p:nvSpPr>
          <p:cNvPr id="7" name="story-now">
            <a:extLst xmlns:a="http://schemas.openxmlformats.org/drawingml/2006/main">
              <a:ext uri="{FF2B5EF4-FFF2-40B4-BE49-F238E27FC236}">
                <a16:creationId xmlns:a16="http://schemas.microsoft.com/office/drawing/2014/main" id="{0D05F20F-2F5E-4358-9EAA-642247907040}"/>
              </a:ext>
            </a:extLst>
          </p:cNvPr>
          <p:cNvSpPr>
            <a:spLocks xmlns:a="http://schemas.openxmlformats.org/drawingml/2006/main" noGrp="1"/>
          </p:cNvSpPr>
          <p:nvPr/>
        </p:nvSpPr>
        <p:spPr>
          <a:xfrm xmlns:a="http://schemas.openxmlformats.org/drawingml/2006/main">
            <a:off x="609600" y="5057775"/>
            <a:ext cx="56102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Those habits stayed with me in research and design. Outside work, I run tabletop games, where listening and helping a group find its way matter too.</a:t>
            </a:r>
          </a:p>
        </p:txBody>
      </p:sp>
      <p:sp>
        <p:nvSpPr>
          <p:cNvPr id="8" name="story-slide-number">
            <a:extLst xmlns:a="http://schemas.openxmlformats.org/drawingml/2006/main">
              <a:ext uri="{FF2B5EF4-FFF2-40B4-BE49-F238E27FC236}">
                <a16:creationId xmlns:a16="http://schemas.microsoft.com/office/drawing/2014/main" id="{A02BCCA1-2910-4717-8865-C4E59A531E39}"/>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Tree>
    <p:extLst>
      <p:ext uri="{BB962C8B-B14F-4D97-AF65-F5344CB8AC3E}">
        <p14:creationId xmlns:p14="http://schemas.microsoft.com/office/powerpoint/2010/main" val="1783234674"/>
      </p:ext>
    </p:extLst>
  </p:cSld>
</p:sld>
</file>

<file path=ppt/slides/slide10.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0B488CB0-26C2-431E-9D76-0E12B4842218}"/>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10</a:t>
            </a:r>
          </a:p>
        </p:txBody>
      </p:sp>
      <p:sp>
        <p:nvSpPr>
          <p:cNvPr id="2" name="section-label">
            <a:extLst xmlns:a="http://schemas.openxmlformats.org/drawingml/2006/main">
              <a:ext uri="{FF2B5EF4-FFF2-40B4-BE49-F238E27FC236}">
                <a16:creationId xmlns:a16="http://schemas.microsoft.com/office/drawing/2014/main" id="{DE9EBAB4-3AD9-4382-8472-5AF9B51A6B3F}"/>
              </a:ext>
            </a:extLst>
          </p:cNvPr>
          <p:cNvSpPr>
            <a:spLocks xmlns:a="http://schemas.openxmlformats.org/drawingml/2006/main" noGrp="1"/>
          </p:cNvSpPr>
          <p:nvPr/>
        </p:nvSpPr>
        <p:spPr>
          <a:xfrm xmlns:a="http://schemas.openxmlformats.org/drawingml/2006/main">
            <a:off x="609600" y="5238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UX DESIGN</a:t>
            </a:r>
          </a:p>
        </p:txBody>
      </p:sp>
      <p:sp>
        <p:nvSpPr>
          <p:cNvPr id="3" name="headline">
            <a:extLst xmlns:a="http://schemas.openxmlformats.org/drawingml/2006/main">
              <a:ext uri="{FF2B5EF4-FFF2-40B4-BE49-F238E27FC236}">
                <a16:creationId xmlns:a16="http://schemas.microsoft.com/office/drawing/2014/main" id="{E1BD84CC-5A32-47FF-94E4-F024CEEC91EA}"/>
              </a:ext>
            </a:extLst>
          </p:cNvPr>
          <p:cNvSpPr>
            <a:spLocks xmlns:a="http://schemas.openxmlformats.org/drawingml/2006/main" noGrp="1"/>
          </p:cNvSpPr>
          <p:nvPr/>
        </p:nvSpPr>
        <p:spPr>
          <a:xfrm xmlns:a="http://schemas.openxmlformats.org/drawingml/2006/main">
            <a:off x="609600" y="1666875"/>
            <a:ext cx="1031557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Let’s make the</a:t>
            </a:r>
          </a:p>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next step clearer</a:t>
            </a:r>
          </a:p>
        </p:txBody>
      </p:sp>
      <p:sp>
        <p:nvSpPr>
          <p:cNvPr id="4" name="contact-intent">
            <a:extLst xmlns:a="http://schemas.openxmlformats.org/drawingml/2006/main">
              <a:ext uri="{FF2B5EF4-FFF2-40B4-BE49-F238E27FC236}">
                <a16:creationId xmlns:a16="http://schemas.microsoft.com/office/drawing/2014/main" id="{08CD384F-63E9-4D3B-9397-9195A1141734}"/>
              </a:ext>
            </a:extLst>
          </p:cNvPr>
          <p:cNvSpPr>
            <a:spLocks xmlns:a="http://schemas.openxmlformats.org/drawingml/2006/main" noGrp="1"/>
          </p:cNvSpPr>
          <p:nvPr/>
        </p:nvSpPr>
        <p:spPr>
          <a:xfrm xmlns:a="http://schemas.openxmlformats.org/drawingml/2006/main">
            <a:off x="647700" y="3857625"/>
            <a:ext cx="98393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For product and UX design roles, contract projects, and collaborations.</a:t>
            </a:r>
          </a:p>
        </p:txBody>
      </p:sp>
      <p:sp>
        <p:nvSpPr>
          <p:cNvPr id="5" name="email">
            <a:extLst xmlns:a="http://schemas.openxmlformats.org/drawingml/2006/main">
              <a:ext uri="{FF2B5EF4-FFF2-40B4-BE49-F238E27FC236}">
                <a16:creationId xmlns:a16="http://schemas.microsoft.com/office/drawing/2014/main" id="{21EF4A04-5298-4D2E-8DAF-DD2F33B14540}"/>
              </a:ext>
            </a:extLst>
          </p:cNvPr>
          <p:cNvSpPr>
            <a:spLocks xmlns:a="http://schemas.openxmlformats.org/drawingml/2006/main" noGrp="1"/>
          </p:cNvSpPr>
          <p:nvPr/>
        </p:nvSpPr>
        <p:spPr>
          <a:xfrm xmlns:a="http://schemas.openxmlformats.org/drawingml/2006/main">
            <a:off x="647700" y="5057775"/>
            <a:ext cx="10191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u="sng">
                <a:solidFill>
                  <a:srgbClr val="DBEB89"/>
                </a:solidFill>
                <a:latin typeface="Helvetica Neue"/>
                <a:ea typeface="Helvetica Neue"/>
                <a:cs typeface="Helvetica Neue"/>
              </a:defRPr>
            </a:pPr>
            <a:r>
              <a:rPr sz="1875" b="0" u="sng">
                <a:solidFill>
                  <a:srgbClr val="DBEB89"/>
                </a:solidFill>
                <a:latin typeface="Helvetica Neue"/>
                <a:ea typeface="Helvetica Neue"/>
                <a:cs typeface="Helvetica Neue"/>
                <a:hlinkClick xmlns:r="http://schemas.openxmlformats.org/officeDocument/2006/relationships" r:id="R745909748ce1472f"/>
              </a:rPr>
              <a:t>JonathanKyleHobson@gmail.com</a:t>
            </a:r>
          </a:p>
        </p:txBody>
      </p:sp>
      <p:sp>
        <p:nvSpPr>
          <p:cNvPr id="6" name="public-profile">
            <a:extLst xmlns:a="http://schemas.openxmlformats.org/drawingml/2006/main">
              <a:ext uri="{FF2B5EF4-FFF2-40B4-BE49-F238E27FC236}">
                <a16:creationId xmlns:a16="http://schemas.microsoft.com/office/drawing/2014/main" id="{C85944A0-37F6-499F-854C-63944ADEB32A}"/>
              </a:ext>
            </a:extLst>
          </p:cNvPr>
          <p:cNvSpPr>
            <a:spLocks xmlns:a="http://schemas.openxmlformats.org/drawingml/2006/main" noGrp="1"/>
          </p:cNvSpPr>
          <p:nvPr/>
        </p:nvSpPr>
        <p:spPr>
          <a:xfrm xmlns:a="http://schemas.openxmlformats.org/drawingml/2006/main">
            <a:off x="647700" y="57054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F4F2E9"/>
                </a:solidFill>
                <a:latin typeface="Helvetica Neue"/>
                <a:ea typeface="Helvetica Neue"/>
                <a:cs typeface="Helvetica Neue"/>
              </a:defRPr>
            </a:pPr>
            <a:r>
              <a:rPr sz="1725" b="0" u="sng">
                <a:solidFill>
                  <a:srgbClr val="F4F2E9"/>
                </a:solidFill>
                <a:latin typeface="Helvetica Neue"/>
                <a:ea typeface="Helvetica Neue"/>
                <a:cs typeface="Helvetica Neue"/>
                <a:hlinkClick xmlns:r="http://schemas.openxmlformats.org/officeDocument/2006/relationships" r:id="R3ed980b11bfd471b"/>
              </a:rPr>
              <a:t>jonathankhobson.github.io/portfolio/design</a:t>
            </a:r>
          </a:p>
        </p:txBody>
      </p:sp>
    </p:spTree>
    <p:extLst>
      <p:ext uri="{BB962C8B-B14F-4D97-AF65-F5344CB8AC3E}">
        <p14:creationId xmlns:p14="http://schemas.microsoft.com/office/powerpoint/2010/main" val="2067870962"/>
      </p:ext>
    </p:extLst>
  </p:cSld>
</p:sld>
</file>

<file path=ppt/theme/theme1.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2026-09-09T17:40:31.5190000Z</dcterms:created>
  <dcterms:modified xsi:type="dcterms:W3CDTF">2026-09-09T17:40:31.5190000Z</dcterms:modified>
</coreProperties>
</file>